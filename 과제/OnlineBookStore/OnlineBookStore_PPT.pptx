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3657600"/>
            <a:ext cx="4572000" cy="4572000"/>
          </a:xfrm>
          <a:prstGeom prst="ellipse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112745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mbria"/>
              </a:rPr>
              <a:t>온라인 서점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 i="0">
                <a:solidFill>
                  <a:srgbClr val="14B8A6"/>
                </a:solidFill>
                <a:latin typeface="Calibri"/>
              </a:rPr>
              <a:t>Python OOP 기반 콘솔 애플리케이션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0139" y="4343400"/>
            <a:ext cx="1828800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39" y="43434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Python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0108" y="4343400"/>
            <a:ext cx="1828800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0108" y="43434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0076" y="4343400"/>
            <a:ext cx="1828800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0076" y="43434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3계층 아키텍처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0044" y="4343400"/>
            <a:ext cx="1828800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0044" y="43434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딕셔너리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40012" y="4343400"/>
            <a:ext cx="1828800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0012" y="4343400"/>
            <a:ext cx="1828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메뉴 패턴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7" y="1097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7" y="118872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0D9488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7" y="202996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Calibri"/>
              </a:rPr>
              <a:t>주요 도메인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" y="242316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회원·도서·장바구니
주문·배송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097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18872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0D9488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2996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Calibri"/>
              </a:rPr>
              <a:t>계층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42316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Model · DAO
Service ·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097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18872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0D9488"/>
                </a:solidFill>
                <a:latin typeface="Cambria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02996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Calibri"/>
              </a:rPr>
              <a:t>유스케이스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42316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회원·비회원
관리자 기능 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097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118872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0D9488"/>
                </a:solidFill>
                <a:latin typeface="Cambria"/>
              </a:rPr>
              <a:t>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144" y="2029968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  <a:latin typeface="Calibri"/>
              </a:rPr>
              <a:t>Python 기법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423160"/>
            <a:ext cx="2606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캡슐화·클래스변수
__str__ 오버라이딩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11457432" cy="283464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▍ 프로젝트 소개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10972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●  회원(비회원 / 일반회원 / 관리자)이 이용하는 Python 콘솔 기반 온라인 서점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●  도서 조회 → 장바구니 → 주문 → 배송까지 완전한 구매 흐름 구현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●  파일·DB 없이 딕셔너리 기반 인메모리 저장소 사용 (3계층 아키텍처)</a:t>
            </a:r>
          </a:p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●  Python OOP 핵심 기법: 캡슐화(name mangling), 클래스 변수, __str__ 오버라이딩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시스템 아키텍처 (3계층 구조)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51560"/>
            <a:ext cx="9418320" cy="109728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09728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Presentation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88136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A5F3FC"/>
                </a:solidFill>
                <a:latin typeface="Calibri"/>
              </a:rPr>
              <a:t>BookShopApp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select_menu() · run_xxx_menu() · menu_xxx() 메뉴 패턴 적용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48839"/>
            <a:ext cx="0" cy="201169"/>
          </a:xfrm>
          <a:prstGeom prst="line">
            <a:avLst/>
          </a:prstGeom>
          <a:ln w="190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2350008"/>
            <a:ext cx="9418320" cy="10972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95727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Service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86584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A5F3FC"/>
                </a:solidFill>
                <a:latin typeface="Calibri"/>
              </a:rPr>
              <a:t>MemberService · BookService · CartService · OrderService · DeliveryService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비즈니스 로직 처리, DAO 조합, 데이터 검증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447287"/>
            <a:ext cx="0" cy="201169"/>
          </a:xfrm>
          <a:prstGeom prst="line">
            <a:avLst/>
          </a:prstGeom>
          <a:ln w="190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3648456"/>
            <a:ext cx="9418320" cy="1097280"/>
          </a:xfrm>
          <a:prstGeom prst="roundRect">
            <a:avLst>
              <a:gd name="adj" fmla="val 6000"/>
            </a:avLst>
          </a:prstGeom>
          <a:solidFill>
            <a:srgbClr val="3B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69417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DAO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85031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A5F3FC"/>
                </a:solidFill>
                <a:latin typeface="Calibri"/>
              </a:rPr>
              <a:t>MemberDAO · BookDAO · CartDAO · OrderDAO · DeliveryDAO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51376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딕셔너리 기반 CRUD, auto-increment __next_no 관리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745736"/>
            <a:ext cx="0" cy="201167"/>
          </a:xfrm>
          <a:prstGeom prst="line">
            <a:avLst/>
          </a:prstGeom>
          <a:ln w="190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71600" y="4946904"/>
            <a:ext cx="9418320" cy="10972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992624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Model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834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A5F3FC"/>
                </a:solidFill>
                <a:latin typeface="Calibri"/>
              </a:rPr>
              <a:t>Member · Book · Cart · Order ·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49824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도메인 데이터 보관, name mangling 캡슐화, __str__ 오버라이딩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8076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각 계층은 단방향 의존성 — 상위 계층이 하위 계층을 호출합니다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유스케이스 다이어그램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37360" y="960120"/>
            <a:ext cx="10058400" cy="5623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98755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온라인 서점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325880"/>
            <a:ext cx="9966960" cy="14173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2788920"/>
            <a:ext cx="9966960" cy="21031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889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83080" y="4937760"/>
            <a:ext cx="9966960" cy="155448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889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" y="1444752"/>
            <a:ext cx="1508760" cy="438912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1444752"/>
            <a:ext cx="1508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비회원</a:t>
            </a:r>
          </a:p>
        </p:txBody>
      </p:sp>
      <p:sp>
        <p:nvSpPr>
          <p:cNvPr id="10" name="Oval 9"/>
          <p:cNvSpPr/>
          <p:nvPr/>
        </p:nvSpPr>
        <p:spPr>
          <a:xfrm>
            <a:off x="2542032" y="15361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15361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도서 목록 보기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15361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361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회원가입</a:t>
            </a:r>
          </a:p>
        </p:txBody>
      </p:sp>
      <p:sp>
        <p:nvSpPr>
          <p:cNvPr id="14" name="Oval 13"/>
          <p:cNvSpPr/>
          <p:nvPr/>
        </p:nvSpPr>
        <p:spPr>
          <a:xfrm>
            <a:off x="8430768" y="15361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361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로그인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1664208"/>
            <a:ext cx="274319" cy="73152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" y="3246120"/>
            <a:ext cx="1508760" cy="43891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3246120"/>
            <a:ext cx="1508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회원</a:t>
            </a:r>
          </a:p>
        </p:txBody>
      </p:sp>
      <p:sp>
        <p:nvSpPr>
          <p:cNvPr id="19" name="Oval 18"/>
          <p:cNvSpPr/>
          <p:nvPr/>
        </p:nvSpPr>
        <p:spPr>
          <a:xfrm>
            <a:off x="2542032" y="29077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29077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장바구니 관리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29077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9077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주문하기</a:t>
            </a:r>
          </a:p>
        </p:txBody>
      </p:sp>
      <p:sp>
        <p:nvSpPr>
          <p:cNvPr id="23" name="Oval 22"/>
          <p:cNvSpPr/>
          <p:nvPr/>
        </p:nvSpPr>
        <p:spPr>
          <a:xfrm>
            <a:off x="8430768" y="2907792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290779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주문/배송 조회</a:t>
            </a:r>
          </a:p>
        </p:txBody>
      </p:sp>
      <p:sp>
        <p:nvSpPr>
          <p:cNvPr id="25" name="Oval 24"/>
          <p:cNvSpPr/>
          <p:nvPr/>
        </p:nvSpPr>
        <p:spPr>
          <a:xfrm>
            <a:off x="4014216" y="3429000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14216" y="34290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내 정보 관리</a:t>
            </a:r>
          </a:p>
        </p:txBody>
      </p:sp>
      <p:sp>
        <p:nvSpPr>
          <p:cNvPr id="27" name="Oval 26"/>
          <p:cNvSpPr/>
          <p:nvPr/>
        </p:nvSpPr>
        <p:spPr>
          <a:xfrm>
            <a:off x="6958584" y="3429000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8584" y="34290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로그아웃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600200" y="3108960"/>
            <a:ext cx="274319" cy="356616"/>
          </a:xfrm>
          <a:prstGeom prst="line">
            <a:avLst/>
          </a:prstGeom>
          <a:ln w="101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" y="5285232"/>
            <a:ext cx="150876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" y="5285232"/>
            <a:ext cx="1508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관리자</a:t>
            </a:r>
          </a:p>
        </p:txBody>
      </p:sp>
      <p:sp>
        <p:nvSpPr>
          <p:cNvPr id="32" name="Oval 31"/>
          <p:cNvSpPr/>
          <p:nvPr/>
        </p:nvSpPr>
        <p:spPr>
          <a:xfrm>
            <a:off x="2542032" y="5047488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42032" y="504748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도서 관리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5047488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504748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회원 관리</a:t>
            </a:r>
          </a:p>
        </p:txBody>
      </p:sp>
      <p:sp>
        <p:nvSpPr>
          <p:cNvPr id="36" name="Oval 35"/>
          <p:cNvSpPr/>
          <p:nvPr/>
        </p:nvSpPr>
        <p:spPr>
          <a:xfrm>
            <a:off x="8430768" y="5047488"/>
            <a:ext cx="274320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504748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주문 관리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600200" y="5248655"/>
            <a:ext cx="274319" cy="256033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클래스 다이어그램 (모델 계층)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960120"/>
            <a:ext cx="2251252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60120"/>
            <a:ext cx="22512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417320"/>
            <a:ext cx="2251252" cy="178307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1" y="1463040"/>
            <a:ext cx="2104948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member_no: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id: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password: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name: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phone: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address: str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200400"/>
            <a:ext cx="2251252" cy="96011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1" y="3246120"/>
            <a:ext cx="2104948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get/set_*()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update_info(name,phone,addr)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check_password(pw)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3004" y="960120"/>
            <a:ext cx="2251252" cy="4572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3004" y="960120"/>
            <a:ext cx="22512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3004" y="1417320"/>
            <a:ext cx="2251252" cy="178307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6156" y="1463040"/>
            <a:ext cx="2104948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book_no: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title: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author: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publisher: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price: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stock: 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3004" y="3200400"/>
            <a:ext cx="2251252" cy="12344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6156" y="3246120"/>
            <a:ext cx="2104948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get/set_*()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update_info()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decrease_stock(qty)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increase_stock(qty)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8849" y="960120"/>
            <a:ext cx="2251252" cy="4572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8849" y="960120"/>
            <a:ext cx="22512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8849" y="1417320"/>
            <a:ext cx="2251252" cy="12344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2001" y="1463040"/>
            <a:ext cx="2104948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member_no: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items: dict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  Key: book_no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  Value: qty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8849" y="2651760"/>
            <a:ext cx="2251252" cy="12344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2001" y="2697479"/>
            <a:ext cx="2104948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add_book(book_no,qty)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change_quantity(no,qty)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remove_book(book_no)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clear_cart()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4694" y="960120"/>
            <a:ext cx="2251252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4694" y="960120"/>
            <a:ext cx="22512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4694" y="1417320"/>
            <a:ext cx="225125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7846" y="1463040"/>
            <a:ext cx="210494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order_no: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member_no: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order_items: dict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total_price: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order_status: str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4694" y="2926080"/>
            <a:ext cx="2251252" cy="96011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7846" y="2971800"/>
            <a:ext cx="2104948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get_*()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change_status(status)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STATUS 상수 5종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00539" y="960120"/>
            <a:ext cx="2251252" cy="457200"/>
          </a:xfrm>
          <a:prstGeom prst="roundRect">
            <a:avLst>
              <a:gd name="adj" fmla="val 6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0539" y="960120"/>
            <a:ext cx="22512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0539" y="1417320"/>
            <a:ext cx="2251252" cy="12344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3691" y="1463040"/>
            <a:ext cx="2104948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order_no: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member_no: int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address: str</a:t>
            </a:r>
          </a:p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status: str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0539" y="2651760"/>
            <a:ext cx="2251252" cy="96011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3691" y="2697479"/>
            <a:ext cx="2104948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get_*()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※ View-Only 모델</a:t>
            </a:r>
          </a:p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(OrderDAO 기반 생성)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각 모델마다 DAO(저장소)와 Service(비즈니스 로직) 클래스가 존재합니다 — BookDAO / BookService, OrderDAO / OrderService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주요 기능 흐름 – 주문 프로세스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005840"/>
            <a:ext cx="196596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39" y="1097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39" y="1097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7556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40280"/>
            <a:ext cx="1783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아이디·비밀번호 확인
장바구니 자동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2286000"/>
            <a:ext cx="49834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47188" y="1005840"/>
            <a:ext cx="196596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55848" y="1097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097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7188" y="17556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도서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8628" y="2240280"/>
            <a:ext cx="1783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도서 목록 조회
장바구니 담기
(재고 실시간 확인)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3148" y="2286000"/>
            <a:ext cx="49834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11496" y="1005840"/>
            <a:ext cx="196596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0156" y="1097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0156" y="1097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17556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주문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240280"/>
            <a:ext cx="1783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전화번호·주소 없으면
주문 전 입력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7456" y="2286000"/>
            <a:ext cx="49834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75803" y="1005840"/>
            <a:ext cx="196596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3" y="1097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1097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5803" y="17556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주문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7243" y="2240280"/>
            <a:ext cx="1783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재고 즉시 차감
장바구니 자동 초기화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1763" y="2286000"/>
            <a:ext cx="498347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40111" y="1005840"/>
            <a:ext cx="196596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48772" y="1097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8772" y="10972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1" y="175564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배송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1" y="2240280"/>
            <a:ext cx="17830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관리자가 상태 변경
주문접수 → 배송중
→ 배송완료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160520"/>
            <a:ext cx="11457432" cy="15087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5196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</a:rPr>
              <a:t>⚠  예외 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81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2400E"/>
                </a:solidFill>
                <a:latin typeface="Calibri"/>
              </a:rPr>
              <a:t>●  장바구니 비어있으면 → 도서를 직접 선택해 바로 주문 가능</a:t>
            </a:r>
          </a:p>
          <a:p>
            <a:pPr algn="l"/>
            <a:r>
              <a:rPr sz="1300" b="0" i="0">
                <a:solidFill>
                  <a:srgbClr val="92400E"/>
                </a:solidFill>
                <a:latin typeface="Calibri"/>
              </a:rPr>
              <a:t>●  주문 취소 상태 → 관리자가 주문 거부 불가</a:t>
            </a:r>
          </a:p>
          <a:p>
            <a:pPr algn="l"/>
            <a:r>
              <a:rPr sz="1300" b="0" i="0">
                <a:solidFill>
                  <a:srgbClr val="92400E"/>
                </a:solidFill>
                <a:latin typeface="Calibri"/>
              </a:rPr>
              <a:t>●  취소·거부 상태 → 배송 상태 수정 불가  |  장바구니 초과 담기 → 재고 기준으로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동작 화면 ①  —  시작 화면 &amp; 로그인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14400"/>
            <a:ext cx="7223760" cy="57607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051560"/>
            <a:ext cx="6894576" cy="5486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50">
                <a:solidFill>
                  <a:srgbClr val="38BDF8"/>
                </a:solidFill>
                <a:latin typeface="Courier New"/>
              </a:rPr>
              <a:t>======== Online Book Store ==========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&gt;&gt;&gt;&gt;도서 목록&lt;&lt;&lt;&lt;</a:t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==============================================================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 번호 |  제목                          |  저자         |   가격  | 재고</a:t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==============================================================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1  |  벨 푸페의 슈퍼달링 약혼       |  아사기리 아사키 | 10000원 | 15권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2  |  패배 히로인이 너무 많아!      |  아마모리 타키비 |  9000원 | 12권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3  |  Re: 제로부터 시작하는 이세계  |  나가츠키 탓페이 |  7200원 | 10권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4  |  마녀의 여행                   |  시라이시 조우기 |  9500원 |  8권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5  |  전생했더니 슬라임이었던 건    |  후세           | 10000원 |  5권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   6  |  사일런트 위치                 |  이소라 마츠리  |  9000원 |  7권</a:t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==============================================================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==============================================================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로그인   2. 회원가입   0. 종료</a:t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==============================================================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1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&gt;&gt;&gt;&gt;&gt;&gt;&gt;&gt; 로그인 &lt;&lt;&lt;&lt;&lt;&lt;&lt;&lt;&lt;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아이디 : user1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비밀번호 : ****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이유찬님, 환영합니다.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960120"/>
            <a:ext cx="434340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5156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alibri"/>
              </a:rPr>
              <a:t>📋 실행 즉시 도서 목록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35608"/>
            <a:ext cx="406908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로그인 없이도 도서 목록을
먼저 보여줌 (비회원 접근)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697480"/>
            <a:ext cx="43434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78892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CB7"/>
                </a:solidFill>
                <a:latin typeface="Calibri"/>
              </a:rPr>
              <a:t>📐 한글 너비 정렬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72968"/>
            <a:ext cx="4069080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str_width() 로 한글(2칸)·영문(1칸)
너비를 계산해 테이블 정렬
ljust_k() · rjust_k() 사용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526280"/>
            <a:ext cx="434340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alibri"/>
              </a:rPr>
              <a:t>🔑 로그인 성공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01768"/>
            <a:ext cx="406908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회원 조회 후 환영 메시지 출력
자동으로 장바구니(Cart) 객체 생성
관리자면 관리자 메뉴로 분기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동작 화면 ②  —  장바구니 &amp; 주문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14400"/>
            <a:ext cx="7223760" cy="57607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051560"/>
            <a:ext cx="6894576" cy="5486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50">
                <a:solidFill>
                  <a:srgbClr val="38BDF8"/>
                </a:solidFill>
                <a:latin typeface="Courier New"/>
              </a:rPr>
              <a:t>1. 장바구니 관리  2. 주문하기  3. 주문/배송 조회  4. 내 정보 관리  0. 로그아웃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1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&gt;&gt;&gt;&gt;장바구니 관리&lt;&lt;&lt;&lt;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장바구니 담기  2. 장바구니 보기  3. 장바구니 삭제  4. 주문하기  0. 뒤로가기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1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&gt;&gt;&gt;&gt;장바구니 담기&lt;&lt;&lt;&lt;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도서 번호 : 1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수량 : 2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장바구니에 담았습니다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2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&gt;&gt;&gt;&gt;장바구니 보기&lt;&lt;&lt;&lt;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[1] 벨 푸페의 슈퍼달링 약혼 x2 = 20000원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합계 : 20000원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4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&gt;&gt;&gt;&gt;주문하기&lt;&lt;&lt;&lt;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벨 푸페의 슈퍼달링 약혼 x2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총 결제 금액 : 20000원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주문하시겠습니까? (y/n) : y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주문 완료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&gt;&gt;&gt; 재고 자동 차감: 15권 → 13권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&gt;&gt;&gt; 장바구니 자동 초기화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960120"/>
            <a:ext cx="4343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5156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alibri"/>
              </a:rPr>
              <a:t>🛒 장바구니 메뉴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35608"/>
            <a:ext cx="4069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담기·보기·삭제·주문하기가
하나의 서브메뉴로 그룹화
장바구니 안에서도 주문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651760"/>
            <a:ext cx="4343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CB7"/>
                </a:solidFill>
                <a:latin typeface="Calibri"/>
              </a:rPr>
              <a:t>🔒 재고 초과 방지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27248"/>
            <a:ext cx="4069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장바구니에 담긴 수량 + 추가 수량이
재고를 초과하면 즉시 차단
already_in_cart 합산 체크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343400"/>
            <a:ext cx="43434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43484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B45309"/>
                </a:solidFill>
                <a:latin typeface="Calibri"/>
              </a:rPr>
              <a:t>📦 주문 완료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18888"/>
            <a:ext cx="4069080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y 확인 후 3가지 동시 처리:
① 재고 즉시 차감 (decrease_stock)
② 주문 객체 생성 (create_order)
③ 장바구니 초기화 (clear_cart)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동작 화면 ③  —  관리자 화면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14400"/>
            <a:ext cx="7223760" cy="57607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1051560"/>
            <a:ext cx="6894576" cy="5486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&gt;&gt;&gt;&gt;&gt;&gt;&gt;&gt; 로그인 &lt;&lt;&lt;&lt;&lt;&lt;&lt;&lt;&lt;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아이디 : admin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비밀번호 : *****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관리자님, 환영합니다.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도서 관리 메뉴  2. 회원 관리 메뉴  3. 주문 관리 메뉴  4. 배송 관리 메뉴  0. 로그아웃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1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&gt;&gt;&gt;&gt;도서 관리 메뉴&lt;&lt;&lt;&lt;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도서 목록  2. 도서 등록  3. 도서 수정  4. 도서 삭제  0. 뒤로가기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3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&gt;&gt;&gt;&gt;도서 수정&lt;&lt;&lt;&lt;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수정할 도서 번호 : 1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제목 변경  2. 저자 변경  3. 출판사 변경  4. 가격 변경  5. 재고 변경  0. 취소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&gt;&gt; 메뉴 : 5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&gt;&gt;&gt;&gt;재고 변경&lt;&lt;&lt;&lt;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새 재고 [15] : 20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재고 변경 성공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2DD4BF"/>
                </a:solidFill>
                <a:latin typeface="Courier New"/>
              </a:rPr>
              <a:t>[ 배송 관리 예시 ]</a:t>
            </a:r>
          </a:p>
          <a:p>
            <a:r>
              <a:rPr sz="850">
                <a:solidFill>
                  <a:srgbClr val="94A3B8"/>
                </a:solidFill>
                <a:latin typeface="Courier New"/>
              </a:rPr>
              <a:t>주문번호: 1  회원: 이유찬  주소: 지옥  상태: 주문접수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수정할 주문 번호 : 1</a:t>
            </a:r>
          </a:p>
          <a:p>
            <a:r>
              <a:rPr sz="850">
                <a:solidFill>
                  <a:srgbClr val="38BDF8"/>
                </a:solidFill>
                <a:latin typeface="Courier New"/>
              </a:rPr>
              <a:t>1. 배송중   2. 배송완료</a:t>
            </a:r>
          </a:p>
          <a:p>
            <a:r>
              <a:rPr sz="850">
                <a:solidFill>
                  <a:srgbClr val="FCD34D"/>
                </a:solidFill>
                <a:latin typeface="Courier New"/>
              </a:rPr>
              <a:t>&gt;&gt; 상태 선택 : 1</a:t>
            </a:r>
          </a:p>
          <a:p>
            <a:r>
              <a:rPr sz="850">
                <a:solidFill>
                  <a:srgbClr val="4ADE80"/>
                </a:solidFill>
                <a:latin typeface="Courier New"/>
              </a:rPr>
              <a:t>수정 성공  →  상태: 배송중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960120"/>
            <a:ext cx="4343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05156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  <a:latin typeface="Calibri"/>
              </a:rPr>
              <a:t>🔐 관리자 전용 메뉴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35608"/>
            <a:ext cx="4069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로그인 시 admin ID 감지 →
자동으로 관리자 메뉴로 분기
일반 유저 메뉴와 완전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651760"/>
            <a:ext cx="434340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✏️ 도서 수정 메뉴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27248"/>
            <a:ext cx="406908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도서 선택 후 항목(제목/저자/
출판사/가격/재고)을 메뉴로 선택
선택한 항목만 수정 후 자동 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389120"/>
            <a:ext cx="4343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480559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alibri"/>
              </a:rPr>
              <a:t>🚚 배송 상태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64608"/>
            <a:ext cx="406908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취소·거부 주문은 배송 상태
수정 불가 (자동 차단)
주문접수 → 배송중 → 배송완료
단방향 흐름 보장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mbria"/>
              </a:rPr>
              <a:t>Python 기술 포인트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05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6948" y="1143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🔒  캡슐화 (Name Mangling)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" y="1645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변수명에 __ 접두사로 외부 접근 차단
→ get/set 메서드로만 데이터 접근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7116" y="1005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1708" y="1143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📋  클래스 변수 메뉴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708" y="1645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메뉴 목록을 클래스 변수로 선언
→ select_menu() + run_xxx_menu()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1875" y="1005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6467" y="1143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📖  __str__ 오버라이딩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6467" y="1645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print(객체) 호출 시
→ 가독성 있는 포맷으로 자동 출력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3291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" y="3429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🗂️  딕셔너리 기반 저장소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" y="3931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파일·DB 없이 메모리 딕셔너리 CRUD
→ Key: auto-increment 번호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7116" y="3291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708" y="3429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↩️  'backhome' 패턴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708" y="3931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return 'backhome' 으로
→ 다중 중첩 메뉴 즉시 탈출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1875" y="3291840"/>
            <a:ext cx="347472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6467" y="34290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📐  한글 출력 정렬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467" y="3931920"/>
            <a:ext cx="31455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str_width() · ljust_k() 커스텀 함수
→ 한글 2칸 너비 고려한 테이블 정렬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14B8A6"/>
                </a:solidFill>
                <a:latin typeface="Calibri"/>
              </a:rPr>
              <a:t>Python OOP 기반 온라인 서점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45336" y="420624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45336" y="4206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5개 도메인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7056" y="420624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4206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3계층 아키텍처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420624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4206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20+ 유스케이스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0496" y="420624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420624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Python OOP 집약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