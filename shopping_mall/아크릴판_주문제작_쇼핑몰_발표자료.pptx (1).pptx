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Noto Sans" panose="020B0502040504020204" pitchFamily="34" charset="0"/>
      <p:regular r:id="rId16"/>
      <p:bold r:id="rId17"/>
      <p:italic r:id="rId18"/>
      <p:boldItalic r:id="rId19"/>
    </p:embeddedFont>
    <p:embeddedFont>
      <p:font typeface="Noto Sans Bold" panose="020B0802040504020204" pitchFamily="34" charset="0"/>
      <p:regular r:id="rId2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86FEC7-C7A7-94ED-C884-5088F9A45B73}" v="22" dt="2026-06-26T00:20:37.2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25.06.2026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안녕하세요. 오늘 발표할 프로젝트는 아크릴 판 재단 주문제작 쇼핑몰입니다. 단순 상품 판매가 아니라 색상, 두께, 규격, 수량을 입력해 견적을 계산하고 장바구니와 주문으로 이어지는 콘솔 기반 시스템입니다.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프로젝트의 핵심은 고정된 상품 목록이 아니라 옵션에 따라 달라지는 견적 계산입니다. 비회원은 견적만 확인할 수 있고, 회원은 장바구니와 주문까지 진행하며, 관리자는 단가와 재고, 주문 상태를 관리합니다.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개발 범위는 크게 네 가지입니다. 첫째 견적 계산, 둘째 회원별 장바구니, 셋째 주문 생성과 재고 차감, 넷째 관리자 기능입니다. 콘솔 환경에서 실제로 흐름이 동작하도록 구현하는 것을 목표로 했습니다.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요구사항 명세서는 실제 코드와 맞지 않는 내용을 제거하고, 현재 구현된 기능과 앞으로 개선할 기능을 구분했습니다. 특히 상품 검색이 아니라 아크릴 판 단일 상품의 단가와 재고를 관리한다는 점을 반영했습니다.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메뉴구성도는 시작 메뉴에서 로그인, 회원가입, 견적 계산으로 시작합니다. 로그인 성공 시 일반 회원은 회원 메뉴로, 관리자 계정은 관리자 메뉴로 이동합니다. 발표에서는 회원 메뉴와 관리자 메뉴가 분리된 구조를 강조하면 됩니다.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유스케이스 다이어그램에서는 비회원, 회원, 관리자의 역할을 구분했습니다. 비회원은 견적 계산과 가입, 로그인이 가능하고, 회원은 장바구니와 주문, 내 정보 관리가 가능합니다. 관리자는 운영자 기능인 단가, 재고, 회원, 주문 관리를 담당합니다.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코드는 모델, DAO, 서비스, 콘솔 UI 계층으로 나누어져 있습니다. 모델은 데이터 구조, DAO는 저장과 조회, 서비스는 업무 로직, ShoppingMallApp은 사용자 입력과 메뉴 흐름을 담당합니다.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클래스 다이어그램에서는 회원, 상품, 장바구니, 주문을 중심으로 구조를 표현했습니다. 각 도메인마다 DAO와 Service가 있고, ShoppingMallApp이 전체 메뉴와 기능 호출을 연결합니다.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핵심 업무 흐름은 옵션 입력, 견적 계산, 장바구니 저장, 주문 생성, 상태 관리 순서입니다. 주문이 생성될 때 재고가 차감되고, 주문접수 상태에서 취소하면 재고가 복구됩니다.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이 슬라이드는 시연 영상을 넣는 자리입니다. 시연은 비회원 견적 계산에서 시작해 회원 주문, 관리자 배송 상태 변경까지 보여주면 전체 흐름이 잘 전달됩니다.</a:t>
            </a:r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구현 핵심은 견적 공식, 자동 번호 생성, 주문 상태 제어, 재고 관리입니다. 또한 입력값 검증을 통해 잘못된 값이 들어오면 기능을 중단하도록 했습니다.</a:t>
            </a:r>
          </a:p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미구현 기능은 결제, 배송 고도화, 옵션 확장, 조회 편의성으로 정리했습니다. 현재 콘솔 프로젝트 범위에서는 제외했지만, 실제 서비스로 확장한다면 필요한 기능이라고 설명하면 됩니다.</a:t>
            </a:r>
          </a:p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이상으로 발표를 마치겠습니다. 프로젝트는 견적 계산부터 주문 관리까지 하나의 흐름으로 구성했고, 코드와 산출물이 일치하도록 다이어그램과 명세서를 정리했습니다. 감사합니다.</a:t>
            </a:r>
          </a:p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6.png"/><Relationship Id="rId5" Type="http://schemas.openxmlformats.org/officeDocument/2006/relationships/image" Target="../media/image2.jpe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35" y="-9535"/>
            <a:ext cx="18320909" cy="183785"/>
            <a:chOff x="0" y="0"/>
            <a:chExt cx="24427878" cy="2450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27814" cy="245110"/>
            </a:xfrm>
            <a:custGeom>
              <a:avLst/>
              <a:gdLst/>
              <a:ahLst/>
              <a:cxnLst/>
              <a:rect l="l" t="t" r="r" b="b"/>
              <a:pathLst>
                <a:path w="24427814" h="245110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16B3C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677343" y="754971"/>
            <a:ext cx="7824235" cy="8716470"/>
            <a:chOff x="0" y="0"/>
            <a:chExt cx="10432313" cy="11621960"/>
          </a:xfrm>
        </p:grpSpPr>
        <p:sp>
          <p:nvSpPr>
            <p:cNvPr id="5" name="Freeform 5" descr="/mnt/data/a_clean_modern_workshop_lab_scene_shallow_depth.png"/>
            <p:cNvSpPr/>
            <p:nvPr/>
          </p:nvSpPr>
          <p:spPr>
            <a:xfrm>
              <a:off x="0" y="0"/>
              <a:ext cx="10432288" cy="11621897"/>
            </a:xfrm>
            <a:custGeom>
              <a:avLst/>
              <a:gdLst/>
              <a:ahLst/>
              <a:cxnLst/>
              <a:rect l="l" t="t" r="r" b="b"/>
              <a:pathLst>
                <a:path w="10432288" h="11621897">
                  <a:moveTo>
                    <a:pt x="0" y="0"/>
                  </a:moveTo>
                  <a:lnTo>
                    <a:pt x="10432288" y="0"/>
                  </a:lnTo>
                  <a:lnTo>
                    <a:pt x="10432288" y="11621897"/>
                  </a:lnTo>
                  <a:lnTo>
                    <a:pt x="0" y="116218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8974" r="-48974" b="-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9297191" y="978789"/>
            <a:ext cx="128883" cy="8186461"/>
            <a:chOff x="0" y="0"/>
            <a:chExt cx="171844" cy="1091528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1831" cy="10915269"/>
            </a:xfrm>
            <a:custGeom>
              <a:avLst/>
              <a:gdLst/>
              <a:ahLst/>
              <a:cxnLst/>
              <a:rect l="l" t="t" r="r" b="b"/>
              <a:pathLst>
                <a:path w="171831" h="10915269">
                  <a:moveTo>
                    <a:pt x="0" y="0"/>
                  </a:moveTo>
                  <a:lnTo>
                    <a:pt x="171831" y="0"/>
                  </a:lnTo>
                  <a:lnTo>
                    <a:pt x="171831" y="10915269"/>
                  </a:lnTo>
                  <a:lnTo>
                    <a:pt x="0" y="10915269"/>
                  </a:lnTo>
                  <a:close/>
                </a:path>
              </a:pathLst>
            </a:custGeom>
            <a:solidFill>
              <a:srgbClr val="16B3C7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988324" y="1372676"/>
            <a:ext cx="8098765" cy="2127647"/>
            <a:chOff x="0" y="0"/>
            <a:chExt cx="10798353" cy="283686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98356" cy="2836856"/>
            </a:xfrm>
            <a:custGeom>
              <a:avLst/>
              <a:gdLst/>
              <a:ahLst/>
              <a:cxnLst/>
              <a:rect l="l" t="t" r="r" b="b"/>
              <a:pathLst>
                <a:path w="10798356" h="2836856">
                  <a:moveTo>
                    <a:pt x="0" y="0"/>
                  </a:moveTo>
                  <a:lnTo>
                    <a:pt x="10798356" y="0"/>
                  </a:lnTo>
                  <a:lnTo>
                    <a:pt x="10798356" y="2836856"/>
                  </a:lnTo>
                  <a:lnTo>
                    <a:pt x="0" y="28368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168" b="-24168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10798353" cy="28368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5"/>
                </a:lnSpc>
              </a:pPr>
              <a:r>
                <a:rPr lang="en-US" sz="6004" b="1">
                  <a:solidFill>
                    <a:srgbClr val="1232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아크릴 판 재단</a:t>
              </a:r>
            </a:p>
            <a:p>
              <a:pPr algn="l">
                <a:lnSpc>
                  <a:spcPts val="7205"/>
                </a:lnSpc>
              </a:pPr>
              <a:r>
                <a:rPr lang="en-US" sz="6004" b="1">
                  <a:solidFill>
                    <a:srgbClr val="1232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주문제작 쇼핑몰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70686" y="3816029"/>
            <a:ext cx="7686961" cy="480431"/>
            <a:chOff x="0" y="0"/>
            <a:chExt cx="10249281" cy="64057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249288" cy="640580"/>
            </a:xfrm>
            <a:custGeom>
              <a:avLst/>
              <a:gdLst/>
              <a:ahLst/>
              <a:cxnLst/>
              <a:rect l="l" t="t" r="r" b="b"/>
              <a:pathLst>
                <a:path w="10249288" h="640580">
                  <a:moveTo>
                    <a:pt x="0" y="0"/>
                  </a:moveTo>
                  <a:lnTo>
                    <a:pt x="10249288" y="0"/>
                  </a:lnTo>
                  <a:lnTo>
                    <a:pt x="10249288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61760" b="-261760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9525"/>
              <a:ext cx="10249281" cy="6310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82"/>
                </a:lnSpc>
              </a:pPr>
              <a:r>
                <a:rPr lang="en-US" sz="2401">
                  <a:solidFill>
                    <a:srgbClr val="5C6670"/>
                  </a:solidFill>
                  <a:latin typeface="Noto Sans"/>
                  <a:ea typeface="Noto Sans"/>
                  <a:cs typeface="Noto Sans"/>
                  <a:sym typeface="Noto Sans"/>
                </a:rPr>
                <a:t>Python Console 기반 주문·장바구니·관리자 시스템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61152" y="4575191"/>
            <a:ext cx="2146706" cy="115148"/>
            <a:chOff x="0" y="0"/>
            <a:chExt cx="2862275" cy="15353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862326" cy="153543"/>
            </a:xfrm>
            <a:custGeom>
              <a:avLst/>
              <a:gdLst/>
              <a:ahLst/>
              <a:cxnLst/>
              <a:rect l="l" t="t" r="r" b="b"/>
              <a:pathLst>
                <a:path w="2862326" h="153543">
                  <a:moveTo>
                    <a:pt x="0" y="0"/>
                  </a:moveTo>
                  <a:lnTo>
                    <a:pt x="2862326" y="0"/>
                  </a:lnTo>
                  <a:lnTo>
                    <a:pt x="2862326" y="153543"/>
                  </a:lnTo>
                  <a:lnTo>
                    <a:pt x="0" y="153543"/>
                  </a:lnTo>
                  <a:close/>
                </a:path>
              </a:pathLst>
            </a:custGeom>
            <a:solidFill>
              <a:srgbClr val="16B3C7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063057" y="5098713"/>
            <a:ext cx="1607553" cy="454504"/>
            <a:chOff x="0" y="0"/>
            <a:chExt cx="2143404" cy="60600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43379" cy="606044"/>
            </a:xfrm>
            <a:custGeom>
              <a:avLst/>
              <a:gdLst/>
              <a:ahLst/>
              <a:cxnLst/>
              <a:rect l="l" t="t" r="r" b="b"/>
              <a:pathLst>
                <a:path w="2143379" h="606044">
                  <a:moveTo>
                    <a:pt x="0" y="0"/>
                  </a:moveTo>
                  <a:lnTo>
                    <a:pt x="2143379" y="0"/>
                  </a:lnTo>
                  <a:lnTo>
                    <a:pt x="2143379" y="606044"/>
                  </a:lnTo>
                  <a:lnTo>
                    <a:pt x="0" y="606044"/>
                  </a:lnTo>
                  <a:close/>
                </a:path>
              </a:pathLst>
            </a:custGeom>
            <a:solidFill>
              <a:srgbClr val="FFFFFF">
                <a:alpha val="88235"/>
              </a:srgbClr>
            </a:solidFill>
            <a:ln w="15252" cap="sq">
              <a:solidFill>
                <a:srgbClr val="2D6CDF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2143404" cy="6060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11"/>
                </a:lnSpc>
              </a:pPr>
              <a:r>
                <a:rPr lang="en-US" sz="1426" b="1">
                  <a:solidFill>
                    <a:srgbClr val="2D6CD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견적 계산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957351" y="5098713"/>
            <a:ext cx="1607553" cy="454504"/>
            <a:chOff x="0" y="0"/>
            <a:chExt cx="2143404" cy="60600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43379" cy="606044"/>
            </a:xfrm>
            <a:custGeom>
              <a:avLst/>
              <a:gdLst/>
              <a:ahLst/>
              <a:cxnLst/>
              <a:rect l="l" t="t" r="r" b="b"/>
              <a:pathLst>
                <a:path w="2143379" h="606044">
                  <a:moveTo>
                    <a:pt x="0" y="0"/>
                  </a:moveTo>
                  <a:lnTo>
                    <a:pt x="2143379" y="0"/>
                  </a:lnTo>
                  <a:lnTo>
                    <a:pt x="2143379" y="606044"/>
                  </a:lnTo>
                  <a:lnTo>
                    <a:pt x="0" y="606044"/>
                  </a:lnTo>
                  <a:close/>
                </a:path>
              </a:pathLst>
            </a:custGeom>
            <a:solidFill>
              <a:srgbClr val="FFFFFF">
                <a:alpha val="88235"/>
              </a:srgbClr>
            </a:solidFill>
            <a:ln w="15252" cap="sq">
              <a:solidFill>
                <a:srgbClr val="4CA66A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0"/>
              <a:ext cx="2143404" cy="6060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11"/>
                </a:lnSpc>
              </a:pPr>
              <a:r>
                <a:rPr lang="en-US" sz="1426" b="1">
                  <a:solidFill>
                    <a:srgbClr val="4CA66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장바구니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851635" y="5098713"/>
            <a:ext cx="1607553" cy="454504"/>
            <a:chOff x="0" y="0"/>
            <a:chExt cx="2143404" cy="60600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43379" cy="606044"/>
            </a:xfrm>
            <a:custGeom>
              <a:avLst/>
              <a:gdLst/>
              <a:ahLst/>
              <a:cxnLst/>
              <a:rect l="l" t="t" r="r" b="b"/>
              <a:pathLst>
                <a:path w="2143379" h="606044">
                  <a:moveTo>
                    <a:pt x="0" y="0"/>
                  </a:moveTo>
                  <a:lnTo>
                    <a:pt x="2143379" y="0"/>
                  </a:lnTo>
                  <a:lnTo>
                    <a:pt x="2143379" y="606044"/>
                  </a:lnTo>
                  <a:lnTo>
                    <a:pt x="0" y="606044"/>
                  </a:lnTo>
                  <a:close/>
                </a:path>
              </a:pathLst>
            </a:custGeom>
            <a:solidFill>
              <a:srgbClr val="FFFFFF">
                <a:alpha val="88235"/>
              </a:srgbClr>
            </a:solidFill>
            <a:ln w="15252" cap="sq">
              <a:solidFill>
                <a:srgbClr val="F3B03E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0"/>
              <a:ext cx="2143404" cy="6060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11"/>
                </a:lnSpc>
              </a:pPr>
              <a:r>
                <a:rPr lang="en-US" sz="1426" b="1">
                  <a:solidFill>
                    <a:srgbClr val="F3B03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주문 관리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745919" y="5098713"/>
            <a:ext cx="1607553" cy="454504"/>
            <a:chOff x="0" y="0"/>
            <a:chExt cx="2143404" cy="60600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43379" cy="606044"/>
            </a:xfrm>
            <a:custGeom>
              <a:avLst/>
              <a:gdLst/>
              <a:ahLst/>
              <a:cxnLst/>
              <a:rect l="l" t="t" r="r" b="b"/>
              <a:pathLst>
                <a:path w="2143379" h="606044">
                  <a:moveTo>
                    <a:pt x="0" y="0"/>
                  </a:moveTo>
                  <a:lnTo>
                    <a:pt x="2143379" y="0"/>
                  </a:lnTo>
                  <a:lnTo>
                    <a:pt x="2143379" y="606044"/>
                  </a:lnTo>
                  <a:lnTo>
                    <a:pt x="0" y="606044"/>
                  </a:lnTo>
                  <a:close/>
                </a:path>
              </a:pathLst>
            </a:custGeom>
            <a:solidFill>
              <a:srgbClr val="FFFFFF">
                <a:alpha val="88235"/>
              </a:srgbClr>
            </a:solidFill>
            <a:ln w="15252" cap="sq">
              <a:solidFill>
                <a:srgbClr val="F26C63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2143404" cy="6060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11"/>
                </a:lnSpc>
              </a:pPr>
              <a:r>
                <a:rPr lang="en-US" sz="1426" b="1">
                  <a:solidFill>
                    <a:srgbClr val="F26C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배송 상태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70686" y="9087088"/>
            <a:ext cx="3431677" cy="480431"/>
            <a:chOff x="0" y="0"/>
            <a:chExt cx="4575569" cy="64057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575575" cy="640580"/>
            </a:xfrm>
            <a:custGeom>
              <a:avLst/>
              <a:gdLst/>
              <a:ahLst/>
              <a:cxnLst/>
              <a:rect l="l" t="t" r="r" b="b"/>
              <a:pathLst>
                <a:path w="4575575" h="640580">
                  <a:moveTo>
                    <a:pt x="0" y="0"/>
                  </a:moveTo>
                  <a:lnTo>
                    <a:pt x="4575575" y="0"/>
                  </a:lnTo>
                  <a:lnTo>
                    <a:pt x="4575575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9179" b="-89178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9525"/>
              <a:ext cx="4575569" cy="6310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 b="1">
                  <a:solidFill>
                    <a:srgbClr val="1232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발표자료 초안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35" y="-9535"/>
            <a:ext cx="18320909" cy="183785"/>
            <a:chOff x="0" y="0"/>
            <a:chExt cx="24427878" cy="2450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27814" cy="245110"/>
            </a:xfrm>
            <a:custGeom>
              <a:avLst/>
              <a:gdLst/>
              <a:ahLst/>
              <a:cxnLst/>
              <a:rect l="l" t="t" r="r" b="b"/>
              <a:pathLst>
                <a:path w="24427814" h="245110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16B3C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892235" y="480431"/>
            <a:ext cx="14413059" cy="617706"/>
            <a:chOff x="0" y="0"/>
            <a:chExt cx="19217411" cy="82360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217413" cy="823603"/>
            </a:xfrm>
            <a:custGeom>
              <a:avLst/>
              <a:gdLst/>
              <a:ahLst/>
              <a:cxnLst/>
              <a:rect l="l" t="t" r="r" b="b"/>
              <a:pathLst>
                <a:path w="19217413" h="823603">
                  <a:moveTo>
                    <a:pt x="0" y="0"/>
                  </a:moveTo>
                  <a:lnTo>
                    <a:pt x="19217413" y="0"/>
                  </a:lnTo>
                  <a:lnTo>
                    <a:pt x="19217413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4650" b="-40465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19217411" cy="8331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3"/>
                </a:lnSpc>
              </a:pPr>
              <a:r>
                <a:rPr lang="en-US" sz="3752" b="1">
                  <a:solidFill>
                    <a:srgbClr val="1232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01. 프로젝트 개요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33421" y="1125588"/>
            <a:ext cx="13452186" cy="343167"/>
            <a:chOff x="0" y="0"/>
            <a:chExt cx="17936248" cy="4575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936252" cy="457557"/>
            </a:xfrm>
            <a:custGeom>
              <a:avLst/>
              <a:gdLst/>
              <a:ahLst/>
              <a:cxnLst/>
              <a:rect l="l" t="t" r="r" b="b"/>
              <a:pathLst>
                <a:path w="17936252" h="457557">
                  <a:moveTo>
                    <a:pt x="0" y="0"/>
                  </a:moveTo>
                  <a:lnTo>
                    <a:pt x="17936252" y="0"/>
                  </a:lnTo>
                  <a:lnTo>
                    <a:pt x="17936252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3813" b="-713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7936248" cy="4575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11"/>
                </a:lnSpc>
              </a:pPr>
              <a:r>
                <a:rPr lang="en-US" sz="1426">
                  <a:solidFill>
                    <a:srgbClr val="5C6670"/>
                  </a:solidFill>
                  <a:latin typeface="Noto Sans"/>
                  <a:ea typeface="Noto Sans"/>
                  <a:cs typeface="Noto Sans"/>
                  <a:sym typeface="Noto Sans"/>
                </a:rPr>
                <a:t>왜 이 시스템을 만들었고, 무엇을 해결하는가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82701" y="1472956"/>
            <a:ext cx="1666275" cy="87697"/>
            <a:chOff x="0" y="0"/>
            <a:chExt cx="2221700" cy="1169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21738" cy="116967"/>
            </a:xfrm>
            <a:custGeom>
              <a:avLst/>
              <a:gdLst/>
              <a:ahLst/>
              <a:cxnLst/>
              <a:rect l="l" t="t" r="r" b="b"/>
              <a:pathLst>
                <a:path w="2221738" h="116967">
                  <a:moveTo>
                    <a:pt x="0" y="0"/>
                  </a:moveTo>
                  <a:lnTo>
                    <a:pt x="2221738" y="0"/>
                  </a:lnTo>
                  <a:lnTo>
                    <a:pt x="2221738" y="116967"/>
                  </a:lnTo>
                  <a:lnTo>
                    <a:pt x="0" y="116967"/>
                  </a:lnTo>
                  <a:close/>
                </a:path>
              </a:pathLst>
            </a:custGeom>
            <a:solidFill>
              <a:srgbClr val="16B3C7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6952500" y="9677343"/>
            <a:ext cx="549069" cy="343167"/>
            <a:chOff x="0" y="0"/>
            <a:chExt cx="732092" cy="45755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32092" cy="457557"/>
            </a:xfrm>
            <a:custGeom>
              <a:avLst/>
              <a:gdLst/>
              <a:ahLst/>
              <a:cxnLst/>
              <a:rect l="l" t="t" r="r" b="b"/>
              <a:pathLst>
                <a:path w="732092" h="457557">
                  <a:moveTo>
                    <a:pt x="0" y="0"/>
                  </a:moveTo>
                  <a:lnTo>
                    <a:pt x="732092" y="0"/>
                  </a:lnTo>
                  <a:lnTo>
                    <a:pt x="732092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r="-30189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732092" cy="4670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1"/>
                </a:lnSpc>
              </a:pPr>
              <a:r>
                <a:rPr lang="en-US" sz="1275">
                  <a:solidFill>
                    <a:srgbClr val="5C6670"/>
                  </a:solidFill>
                  <a:latin typeface="Noto Sans"/>
                  <a:ea typeface="Noto Sans"/>
                  <a:cs typeface="Noto Sans"/>
                  <a:sym typeface="Noto Sans"/>
                </a:rPr>
                <a:t>02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92235" y="9677343"/>
            <a:ext cx="5490686" cy="343167"/>
            <a:chOff x="0" y="0"/>
            <a:chExt cx="7320915" cy="45755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320920" cy="457557"/>
            </a:xfrm>
            <a:custGeom>
              <a:avLst/>
              <a:gdLst/>
              <a:ahLst/>
              <a:cxnLst/>
              <a:rect l="l" t="t" r="r" b="b"/>
              <a:pathLst>
                <a:path w="7320920" h="457557">
                  <a:moveTo>
                    <a:pt x="0" y="0"/>
                  </a:moveTo>
                  <a:lnTo>
                    <a:pt x="7320920" y="0"/>
                  </a:lnTo>
                  <a:lnTo>
                    <a:pt x="7320920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1760" b="-261760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7320915" cy="4670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1"/>
                </a:lnSpc>
              </a:pPr>
              <a:r>
                <a:rPr lang="en-US" sz="1275">
                  <a:solidFill>
                    <a:srgbClr val="7A8793"/>
                  </a:solidFill>
                  <a:latin typeface="Noto Sans"/>
                  <a:ea typeface="Noto Sans"/>
                  <a:cs typeface="Noto Sans"/>
                  <a:sym typeface="Noto Sans"/>
                </a:rPr>
                <a:t>Acrylic Panel Custom Order System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29500" y="1990373"/>
            <a:ext cx="5627961" cy="1578569"/>
            <a:chOff x="0" y="0"/>
            <a:chExt cx="7503947" cy="210475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503943" cy="2104764"/>
            </a:xfrm>
            <a:custGeom>
              <a:avLst/>
              <a:gdLst/>
              <a:ahLst/>
              <a:cxnLst/>
              <a:rect l="l" t="t" r="r" b="b"/>
              <a:pathLst>
                <a:path w="7503943" h="2104764">
                  <a:moveTo>
                    <a:pt x="0" y="0"/>
                  </a:moveTo>
                  <a:lnTo>
                    <a:pt x="7503943" y="0"/>
                  </a:lnTo>
                  <a:lnTo>
                    <a:pt x="7503943" y="2104764"/>
                  </a:lnTo>
                  <a:lnTo>
                    <a:pt x="0" y="2104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468" b="-19468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7503947" cy="21047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3"/>
                </a:lnSpc>
              </a:pPr>
              <a:r>
                <a:rPr lang="en-US" sz="4203" b="1">
                  <a:solidFill>
                    <a:srgbClr val="1232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고정 상품 검색보다</a:t>
              </a:r>
            </a:p>
            <a:p>
              <a:pPr algn="l">
                <a:lnSpc>
                  <a:spcPts val="5043"/>
                </a:lnSpc>
              </a:pPr>
              <a:r>
                <a:rPr lang="en-US" sz="4203" b="1">
                  <a:solidFill>
                    <a:srgbClr val="1232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“옵션 기반 견적”이 핵심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70686" y="3816029"/>
            <a:ext cx="5971127" cy="1372676"/>
            <a:chOff x="0" y="0"/>
            <a:chExt cx="7961503" cy="183023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961500" cy="1830230"/>
            </a:xfrm>
            <a:custGeom>
              <a:avLst/>
              <a:gdLst/>
              <a:ahLst/>
              <a:cxnLst/>
              <a:rect l="l" t="t" r="r" b="b"/>
              <a:pathLst>
                <a:path w="7961500" h="1830230">
                  <a:moveTo>
                    <a:pt x="0" y="0"/>
                  </a:moveTo>
                  <a:lnTo>
                    <a:pt x="7961500" y="0"/>
                  </a:lnTo>
                  <a:lnTo>
                    <a:pt x="7961500" y="1830230"/>
                  </a:lnTo>
                  <a:lnTo>
                    <a:pt x="0" y="18302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759" b="-34760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7961503" cy="18302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2"/>
                </a:lnSpc>
              </a:pPr>
              <a:r>
                <a:rPr lang="en-US" sz="2326">
                  <a:solidFill>
                    <a:srgbClr val="0B1720"/>
                  </a:solidFill>
                  <a:latin typeface="Noto Sans"/>
                  <a:ea typeface="Noto Sans"/>
                  <a:cs typeface="Noto Sans"/>
                  <a:sym typeface="Noto Sans"/>
                </a:rPr>
                <a:t>아크릴 판은 색상·두께·가로·세로·수량에 따라 가격이 달라지므로, 사용자가 옵션을 입력하면 즉시 견적을 계산하고 주문까지 진행하도록 구성했습니다.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471534" y="1912210"/>
            <a:ext cx="9353236" cy="1556461"/>
            <a:chOff x="0" y="0"/>
            <a:chExt cx="12470981" cy="207528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470892" cy="2075180"/>
            </a:xfrm>
            <a:custGeom>
              <a:avLst/>
              <a:gdLst/>
              <a:ahLst/>
              <a:cxnLst/>
              <a:rect l="l" t="t" r="r" b="b"/>
              <a:pathLst>
                <a:path w="12470892" h="2075180">
                  <a:moveTo>
                    <a:pt x="0" y="111125"/>
                  </a:moveTo>
                  <a:cubicBezTo>
                    <a:pt x="0" y="49784"/>
                    <a:pt x="49784" y="0"/>
                    <a:pt x="111125" y="0"/>
                  </a:cubicBezTo>
                  <a:lnTo>
                    <a:pt x="12359767" y="0"/>
                  </a:lnTo>
                  <a:cubicBezTo>
                    <a:pt x="12421108" y="0"/>
                    <a:pt x="12470892" y="49784"/>
                    <a:pt x="12470892" y="111125"/>
                  </a:cubicBezTo>
                  <a:lnTo>
                    <a:pt x="12470892" y="1964055"/>
                  </a:lnTo>
                  <a:cubicBezTo>
                    <a:pt x="12470892" y="2025396"/>
                    <a:pt x="12421108" y="2075180"/>
                    <a:pt x="12359767" y="2075180"/>
                  </a:cubicBezTo>
                  <a:lnTo>
                    <a:pt x="111125" y="2075180"/>
                  </a:lnTo>
                  <a:cubicBezTo>
                    <a:pt x="49784" y="2075180"/>
                    <a:pt x="0" y="2025396"/>
                    <a:pt x="0" y="1964055"/>
                  </a:cubicBezTo>
                  <a:close/>
                </a:path>
              </a:pathLst>
            </a:custGeom>
            <a:solidFill>
              <a:srgbClr val="FFF1C7"/>
            </a:solidFill>
            <a:ln w="19065" cap="sq">
              <a:solidFill>
                <a:srgbClr val="F3B03E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7961500" y="2141372"/>
            <a:ext cx="2333539" cy="480431"/>
            <a:chOff x="0" y="0"/>
            <a:chExt cx="3111386" cy="64057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111391" cy="640580"/>
            </a:xfrm>
            <a:custGeom>
              <a:avLst/>
              <a:gdLst/>
              <a:ahLst/>
              <a:cxnLst/>
              <a:rect l="l" t="t" r="r" b="b"/>
              <a:pathLst>
                <a:path w="3111391" h="640580">
                  <a:moveTo>
                    <a:pt x="0" y="0"/>
                  </a:moveTo>
                  <a:lnTo>
                    <a:pt x="3111391" y="0"/>
                  </a:lnTo>
                  <a:lnTo>
                    <a:pt x="3111391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4641" b="-44641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3111386" cy="650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2"/>
                </a:lnSpc>
              </a:pPr>
              <a:r>
                <a:rPr lang="en-US" sz="2702" b="1">
                  <a:solidFill>
                    <a:srgbClr val="1232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비회원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295039" y="2155098"/>
            <a:ext cx="2882608" cy="411804"/>
            <a:chOff x="0" y="0"/>
            <a:chExt cx="3843477" cy="54907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843483" cy="549069"/>
            </a:xfrm>
            <a:custGeom>
              <a:avLst/>
              <a:gdLst/>
              <a:ahLst/>
              <a:cxnLst/>
              <a:rect l="l" t="t" r="r" b="b"/>
              <a:pathLst>
                <a:path w="3843483" h="549069">
                  <a:moveTo>
                    <a:pt x="0" y="0"/>
                  </a:moveTo>
                  <a:lnTo>
                    <a:pt x="3843483" y="0"/>
                  </a:lnTo>
                  <a:lnTo>
                    <a:pt x="384348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394" b="-86395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9525"/>
              <a:ext cx="3843477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1"/>
                </a:lnSpc>
              </a:pPr>
              <a:r>
                <a:rPr lang="en-US" sz="2026" b="1">
                  <a:solidFill>
                    <a:srgbClr val="0B172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견적 계산만 가능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295039" y="2690441"/>
            <a:ext cx="5216157" cy="411804"/>
            <a:chOff x="0" y="0"/>
            <a:chExt cx="6954876" cy="54907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954873" cy="549069"/>
            </a:xfrm>
            <a:custGeom>
              <a:avLst/>
              <a:gdLst/>
              <a:ahLst/>
              <a:cxnLst/>
              <a:rect l="l" t="t" r="r" b="b"/>
              <a:pathLst>
                <a:path w="6954873" h="549069">
                  <a:moveTo>
                    <a:pt x="0" y="0"/>
                  </a:moveTo>
                  <a:lnTo>
                    <a:pt x="6954873" y="0"/>
                  </a:lnTo>
                  <a:lnTo>
                    <a:pt x="695487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6810" b="-196810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6954876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5C6670"/>
                  </a:solidFill>
                  <a:latin typeface="Noto Sans"/>
                  <a:ea typeface="Noto Sans"/>
                  <a:cs typeface="Noto Sans"/>
                  <a:sym typeface="Noto Sans"/>
                </a:rPr>
                <a:t>구매는 로그인 후 진행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5717098" y="2361000"/>
            <a:ext cx="686333" cy="480431"/>
            <a:chOff x="0" y="0"/>
            <a:chExt cx="915111" cy="640575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15115" cy="640580"/>
            </a:xfrm>
            <a:custGeom>
              <a:avLst/>
              <a:gdLst/>
              <a:ahLst/>
              <a:cxnLst/>
              <a:rect l="l" t="t" r="r" b="b"/>
              <a:pathLst>
                <a:path w="915115" h="640580">
                  <a:moveTo>
                    <a:pt x="0" y="0"/>
                  </a:moveTo>
                  <a:lnTo>
                    <a:pt x="915115" y="0"/>
                  </a:lnTo>
                  <a:lnTo>
                    <a:pt x="915115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1" r="-39811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9525"/>
              <a:ext cx="915111" cy="6310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882"/>
                </a:lnSpc>
              </a:pPr>
              <a:r>
                <a:rPr lang="en-US" sz="2401" b="1">
                  <a:solidFill>
                    <a:srgbClr val="F3B03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01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471534" y="4039848"/>
            <a:ext cx="9353236" cy="1556461"/>
            <a:chOff x="0" y="0"/>
            <a:chExt cx="12470981" cy="207528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2470892" cy="2075180"/>
            </a:xfrm>
            <a:custGeom>
              <a:avLst/>
              <a:gdLst/>
              <a:ahLst/>
              <a:cxnLst/>
              <a:rect l="l" t="t" r="r" b="b"/>
              <a:pathLst>
                <a:path w="12470892" h="2075180">
                  <a:moveTo>
                    <a:pt x="0" y="111125"/>
                  </a:moveTo>
                  <a:cubicBezTo>
                    <a:pt x="0" y="49784"/>
                    <a:pt x="49784" y="0"/>
                    <a:pt x="111125" y="0"/>
                  </a:cubicBezTo>
                  <a:lnTo>
                    <a:pt x="12359767" y="0"/>
                  </a:lnTo>
                  <a:cubicBezTo>
                    <a:pt x="12421108" y="0"/>
                    <a:pt x="12470892" y="49784"/>
                    <a:pt x="12470892" y="111125"/>
                  </a:cubicBezTo>
                  <a:lnTo>
                    <a:pt x="12470892" y="1964055"/>
                  </a:lnTo>
                  <a:cubicBezTo>
                    <a:pt x="12470892" y="2025396"/>
                    <a:pt x="12421108" y="2075180"/>
                    <a:pt x="12359767" y="2075180"/>
                  </a:cubicBezTo>
                  <a:lnTo>
                    <a:pt x="111125" y="2075180"/>
                  </a:lnTo>
                  <a:cubicBezTo>
                    <a:pt x="49784" y="2075180"/>
                    <a:pt x="0" y="2025396"/>
                    <a:pt x="0" y="1964055"/>
                  </a:cubicBezTo>
                  <a:close/>
                </a:path>
              </a:pathLst>
            </a:custGeom>
            <a:solidFill>
              <a:srgbClr val="E6F7E8"/>
            </a:solidFill>
            <a:ln w="19065" cap="sq">
              <a:solidFill>
                <a:srgbClr val="4CA66A"/>
              </a:solidFill>
              <a:prstDash val="solid"/>
              <a:miter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7961500" y="4269010"/>
            <a:ext cx="2333539" cy="480431"/>
            <a:chOff x="0" y="0"/>
            <a:chExt cx="3111386" cy="640575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3111391" cy="640580"/>
            </a:xfrm>
            <a:custGeom>
              <a:avLst/>
              <a:gdLst/>
              <a:ahLst/>
              <a:cxnLst/>
              <a:rect l="l" t="t" r="r" b="b"/>
              <a:pathLst>
                <a:path w="3111391" h="640580">
                  <a:moveTo>
                    <a:pt x="0" y="0"/>
                  </a:moveTo>
                  <a:lnTo>
                    <a:pt x="3111391" y="0"/>
                  </a:lnTo>
                  <a:lnTo>
                    <a:pt x="3111391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4641" b="-44641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9525"/>
              <a:ext cx="3111386" cy="650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2"/>
                </a:lnSpc>
              </a:pPr>
              <a:r>
                <a:rPr lang="en-US" sz="2702" b="1">
                  <a:solidFill>
                    <a:srgbClr val="1232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회원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0295039" y="4282735"/>
            <a:ext cx="2882608" cy="411804"/>
            <a:chOff x="0" y="0"/>
            <a:chExt cx="3843477" cy="549072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843483" cy="549069"/>
            </a:xfrm>
            <a:custGeom>
              <a:avLst/>
              <a:gdLst/>
              <a:ahLst/>
              <a:cxnLst/>
              <a:rect l="l" t="t" r="r" b="b"/>
              <a:pathLst>
                <a:path w="3843483" h="549069">
                  <a:moveTo>
                    <a:pt x="0" y="0"/>
                  </a:moveTo>
                  <a:lnTo>
                    <a:pt x="3843483" y="0"/>
                  </a:lnTo>
                  <a:lnTo>
                    <a:pt x="384348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394" b="-86395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9525"/>
              <a:ext cx="3843477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1"/>
                </a:lnSpc>
              </a:pPr>
              <a:r>
                <a:rPr lang="en-US" sz="2026" b="1">
                  <a:solidFill>
                    <a:srgbClr val="0B172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견적 → 장바구니 → 주문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0295039" y="4818078"/>
            <a:ext cx="5216157" cy="411804"/>
            <a:chOff x="0" y="0"/>
            <a:chExt cx="6954876" cy="549072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6954873" cy="549069"/>
            </a:xfrm>
            <a:custGeom>
              <a:avLst/>
              <a:gdLst/>
              <a:ahLst/>
              <a:cxnLst/>
              <a:rect l="l" t="t" r="r" b="b"/>
              <a:pathLst>
                <a:path w="6954873" h="549069">
                  <a:moveTo>
                    <a:pt x="0" y="0"/>
                  </a:moveTo>
                  <a:lnTo>
                    <a:pt x="6954873" y="0"/>
                  </a:lnTo>
                  <a:lnTo>
                    <a:pt x="695487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6810" b="-196810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0"/>
              <a:ext cx="6954876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5C6670"/>
                  </a:solidFill>
                  <a:latin typeface="Noto Sans"/>
                  <a:ea typeface="Noto Sans"/>
                  <a:cs typeface="Noto Sans"/>
                  <a:sym typeface="Noto Sans"/>
                </a:rPr>
                <a:t>주문 취소와 내 정보 관리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5717098" y="4488637"/>
            <a:ext cx="686333" cy="480431"/>
            <a:chOff x="0" y="0"/>
            <a:chExt cx="915111" cy="640575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915115" cy="640580"/>
            </a:xfrm>
            <a:custGeom>
              <a:avLst/>
              <a:gdLst/>
              <a:ahLst/>
              <a:cxnLst/>
              <a:rect l="l" t="t" r="r" b="b"/>
              <a:pathLst>
                <a:path w="915115" h="640580">
                  <a:moveTo>
                    <a:pt x="0" y="0"/>
                  </a:moveTo>
                  <a:lnTo>
                    <a:pt x="915115" y="0"/>
                  </a:lnTo>
                  <a:lnTo>
                    <a:pt x="915115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1" r="-39811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9525"/>
              <a:ext cx="915111" cy="6310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882"/>
                </a:lnSpc>
              </a:pPr>
              <a:r>
                <a:rPr lang="en-US" sz="2401" b="1">
                  <a:solidFill>
                    <a:srgbClr val="4CA66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02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7471534" y="6167495"/>
            <a:ext cx="9353236" cy="1556461"/>
            <a:chOff x="0" y="0"/>
            <a:chExt cx="12470981" cy="2075282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2470892" cy="2075180"/>
            </a:xfrm>
            <a:custGeom>
              <a:avLst/>
              <a:gdLst/>
              <a:ahLst/>
              <a:cxnLst/>
              <a:rect l="l" t="t" r="r" b="b"/>
              <a:pathLst>
                <a:path w="12470892" h="2075180">
                  <a:moveTo>
                    <a:pt x="0" y="111125"/>
                  </a:moveTo>
                  <a:cubicBezTo>
                    <a:pt x="0" y="49784"/>
                    <a:pt x="49784" y="0"/>
                    <a:pt x="111125" y="0"/>
                  </a:cubicBezTo>
                  <a:lnTo>
                    <a:pt x="12359767" y="0"/>
                  </a:lnTo>
                  <a:cubicBezTo>
                    <a:pt x="12421108" y="0"/>
                    <a:pt x="12470892" y="49784"/>
                    <a:pt x="12470892" y="111125"/>
                  </a:cubicBezTo>
                  <a:lnTo>
                    <a:pt x="12470892" y="1964055"/>
                  </a:lnTo>
                  <a:cubicBezTo>
                    <a:pt x="12470892" y="2025396"/>
                    <a:pt x="12421108" y="2075180"/>
                    <a:pt x="12359767" y="2075180"/>
                  </a:cubicBezTo>
                  <a:lnTo>
                    <a:pt x="111125" y="2075180"/>
                  </a:lnTo>
                  <a:cubicBezTo>
                    <a:pt x="49784" y="2075180"/>
                    <a:pt x="0" y="2025396"/>
                    <a:pt x="0" y="1964055"/>
                  </a:cubicBezTo>
                  <a:close/>
                </a:path>
              </a:pathLst>
            </a:custGeom>
            <a:solidFill>
              <a:srgbClr val="D8ECFF"/>
            </a:solidFill>
            <a:ln w="19065" cap="sq">
              <a:solidFill>
                <a:srgbClr val="2D6CDF"/>
              </a:solidFill>
              <a:prstDash val="solid"/>
              <a:miter/>
            </a:ln>
          </p:spPr>
        </p:sp>
      </p:grpSp>
      <p:grpSp>
        <p:nvGrpSpPr>
          <p:cNvPr id="54" name="Group 54"/>
          <p:cNvGrpSpPr/>
          <p:nvPr/>
        </p:nvGrpSpPr>
        <p:grpSpPr>
          <a:xfrm>
            <a:off x="7961500" y="6396657"/>
            <a:ext cx="2333539" cy="480431"/>
            <a:chOff x="0" y="0"/>
            <a:chExt cx="3111386" cy="640575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3111391" cy="640580"/>
            </a:xfrm>
            <a:custGeom>
              <a:avLst/>
              <a:gdLst/>
              <a:ahLst/>
              <a:cxnLst/>
              <a:rect l="l" t="t" r="r" b="b"/>
              <a:pathLst>
                <a:path w="3111391" h="640580">
                  <a:moveTo>
                    <a:pt x="0" y="0"/>
                  </a:moveTo>
                  <a:lnTo>
                    <a:pt x="3111391" y="0"/>
                  </a:lnTo>
                  <a:lnTo>
                    <a:pt x="3111391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4641" b="-44641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9525"/>
              <a:ext cx="3111386" cy="650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2"/>
                </a:lnSpc>
              </a:pPr>
              <a:r>
                <a:rPr lang="en-US" sz="2702" b="1">
                  <a:solidFill>
                    <a:srgbClr val="1232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관리자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0295039" y="6410382"/>
            <a:ext cx="2882608" cy="411804"/>
            <a:chOff x="0" y="0"/>
            <a:chExt cx="3843477" cy="549072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3843483" cy="549069"/>
            </a:xfrm>
            <a:custGeom>
              <a:avLst/>
              <a:gdLst/>
              <a:ahLst/>
              <a:cxnLst/>
              <a:rect l="l" t="t" r="r" b="b"/>
              <a:pathLst>
                <a:path w="3843483" h="549069">
                  <a:moveTo>
                    <a:pt x="0" y="0"/>
                  </a:moveTo>
                  <a:lnTo>
                    <a:pt x="3843483" y="0"/>
                  </a:lnTo>
                  <a:lnTo>
                    <a:pt x="384348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394" b="-86395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9525"/>
              <a:ext cx="3843477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1"/>
                </a:lnSpc>
              </a:pPr>
              <a:r>
                <a:rPr lang="en-US" sz="2026" b="1">
                  <a:solidFill>
                    <a:srgbClr val="0B172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단가·재고·주문 관리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0295039" y="6945725"/>
            <a:ext cx="5216157" cy="411804"/>
            <a:chOff x="0" y="0"/>
            <a:chExt cx="6954876" cy="549072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6954873" cy="549069"/>
            </a:xfrm>
            <a:custGeom>
              <a:avLst/>
              <a:gdLst/>
              <a:ahLst/>
              <a:cxnLst/>
              <a:rect l="l" t="t" r="r" b="b"/>
              <a:pathLst>
                <a:path w="6954873" h="549069">
                  <a:moveTo>
                    <a:pt x="0" y="0"/>
                  </a:moveTo>
                  <a:lnTo>
                    <a:pt x="6954873" y="0"/>
                  </a:lnTo>
                  <a:lnTo>
                    <a:pt x="695487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6810" b="-196810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0"/>
              <a:ext cx="6954876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5C6670"/>
                  </a:solidFill>
                  <a:latin typeface="Noto Sans"/>
                  <a:ea typeface="Noto Sans"/>
                  <a:cs typeface="Noto Sans"/>
                  <a:sym typeface="Noto Sans"/>
                </a:rPr>
                <a:t>배송 상태 변경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5717098" y="6616284"/>
            <a:ext cx="686333" cy="480431"/>
            <a:chOff x="0" y="0"/>
            <a:chExt cx="915111" cy="640575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915115" cy="640580"/>
            </a:xfrm>
            <a:custGeom>
              <a:avLst/>
              <a:gdLst/>
              <a:ahLst/>
              <a:cxnLst/>
              <a:rect l="l" t="t" r="r" b="b"/>
              <a:pathLst>
                <a:path w="915115" h="640580">
                  <a:moveTo>
                    <a:pt x="0" y="0"/>
                  </a:moveTo>
                  <a:lnTo>
                    <a:pt x="915115" y="0"/>
                  </a:lnTo>
                  <a:lnTo>
                    <a:pt x="915115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1" r="-39811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9525"/>
              <a:ext cx="915111" cy="6310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882"/>
                </a:lnSpc>
              </a:pPr>
              <a:r>
                <a:rPr lang="en-US" sz="2401" b="1">
                  <a:solidFill>
                    <a:srgbClr val="2D6CD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35" y="-9535"/>
            <a:ext cx="18320909" cy="183785"/>
            <a:chOff x="0" y="0"/>
            <a:chExt cx="24427878" cy="2450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27814" cy="245110"/>
            </a:xfrm>
            <a:custGeom>
              <a:avLst/>
              <a:gdLst/>
              <a:ahLst/>
              <a:cxnLst/>
              <a:rect l="l" t="t" r="r" b="b"/>
              <a:pathLst>
                <a:path w="24427814" h="245110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16B3C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892235" y="480431"/>
            <a:ext cx="14413059" cy="617706"/>
            <a:chOff x="0" y="0"/>
            <a:chExt cx="19217411" cy="82360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217413" cy="823603"/>
            </a:xfrm>
            <a:custGeom>
              <a:avLst/>
              <a:gdLst/>
              <a:ahLst/>
              <a:cxnLst/>
              <a:rect l="l" t="t" r="r" b="b"/>
              <a:pathLst>
                <a:path w="19217413" h="823603">
                  <a:moveTo>
                    <a:pt x="0" y="0"/>
                  </a:moveTo>
                  <a:lnTo>
                    <a:pt x="19217413" y="0"/>
                  </a:lnTo>
                  <a:lnTo>
                    <a:pt x="19217413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4650" b="-40465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19217411" cy="8331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3"/>
                </a:lnSpc>
              </a:pPr>
              <a:r>
                <a:rPr lang="en-US" sz="3752" b="1">
                  <a:solidFill>
                    <a:srgbClr val="1232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02. 개발 범위와 목표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33421" y="1125588"/>
            <a:ext cx="13452186" cy="343167"/>
            <a:chOff x="0" y="0"/>
            <a:chExt cx="17936248" cy="4575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936252" cy="457557"/>
            </a:xfrm>
            <a:custGeom>
              <a:avLst/>
              <a:gdLst/>
              <a:ahLst/>
              <a:cxnLst/>
              <a:rect l="l" t="t" r="r" b="b"/>
              <a:pathLst>
                <a:path w="17936252" h="457557">
                  <a:moveTo>
                    <a:pt x="0" y="0"/>
                  </a:moveTo>
                  <a:lnTo>
                    <a:pt x="17936252" y="0"/>
                  </a:lnTo>
                  <a:lnTo>
                    <a:pt x="17936252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3813" b="-713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7936248" cy="4575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11"/>
                </a:lnSpc>
              </a:pPr>
              <a:r>
                <a:rPr lang="en-US" sz="1426">
                  <a:solidFill>
                    <a:srgbClr val="5C6670"/>
                  </a:solidFill>
                  <a:latin typeface="Noto Sans"/>
                  <a:ea typeface="Noto Sans"/>
                  <a:cs typeface="Noto Sans"/>
                  <a:sym typeface="Noto Sans"/>
                </a:rPr>
                <a:t>콘솔 환경에서 구현한 핵심 기능 범위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82701" y="1472956"/>
            <a:ext cx="1666275" cy="87697"/>
            <a:chOff x="0" y="0"/>
            <a:chExt cx="2221700" cy="1169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21738" cy="116967"/>
            </a:xfrm>
            <a:custGeom>
              <a:avLst/>
              <a:gdLst/>
              <a:ahLst/>
              <a:cxnLst/>
              <a:rect l="l" t="t" r="r" b="b"/>
              <a:pathLst>
                <a:path w="2221738" h="116967">
                  <a:moveTo>
                    <a:pt x="0" y="0"/>
                  </a:moveTo>
                  <a:lnTo>
                    <a:pt x="2221738" y="0"/>
                  </a:lnTo>
                  <a:lnTo>
                    <a:pt x="2221738" y="116967"/>
                  </a:lnTo>
                  <a:lnTo>
                    <a:pt x="0" y="116967"/>
                  </a:lnTo>
                  <a:close/>
                </a:path>
              </a:pathLst>
            </a:custGeom>
            <a:solidFill>
              <a:srgbClr val="16B3C7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6952500" y="9677343"/>
            <a:ext cx="549069" cy="343167"/>
            <a:chOff x="0" y="0"/>
            <a:chExt cx="732092" cy="45755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32092" cy="457557"/>
            </a:xfrm>
            <a:custGeom>
              <a:avLst/>
              <a:gdLst/>
              <a:ahLst/>
              <a:cxnLst/>
              <a:rect l="l" t="t" r="r" b="b"/>
              <a:pathLst>
                <a:path w="732092" h="457557">
                  <a:moveTo>
                    <a:pt x="0" y="0"/>
                  </a:moveTo>
                  <a:lnTo>
                    <a:pt x="732092" y="0"/>
                  </a:lnTo>
                  <a:lnTo>
                    <a:pt x="732092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r="-30189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732092" cy="4670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1"/>
                </a:lnSpc>
              </a:pPr>
              <a:r>
                <a:rPr lang="en-US" sz="1275">
                  <a:solidFill>
                    <a:srgbClr val="5C6670"/>
                  </a:solidFill>
                  <a:latin typeface="Noto Sans"/>
                  <a:ea typeface="Noto Sans"/>
                  <a:cs typeface="Noto Sans"/>
                  <a:sym typeface="Noto Sans"/>
                </a:rPr>
                <a:t>03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92235" y="9677343"/>
            <a:ext cx="5490686" cy="343167"/>
            <a:chOff x="0" y="0"/>
            <a:chExt cx="7320915" cy="45755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320920" cy="457557"/>
            </a:xfrm>
            <a:custGeom>
              <a:avLst/>
              <a:gdLst/>
              <a:ahLst/>
              <a:cxnLst/>
              <a:rect l="l" t="t" r="r" b="b"/>
              <a:pathLst>
                <a:path w="7320920" h="457557">
                  <a:moveTo>
                    <a:pt x="0" y="0"/>
                  </a:moveTo>
                  <a:lnTo>
                    <a:pt x="7320920" y="0"/>
                  </a:lnTo>
                  <a:lnTo>
                    <a:pt x="7320920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1760" b="-261760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7320915" cy="4670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1"/>
                </a:lnSpc>
              </a:pPr>
              <a:r>
                <a:rPr lang="en-US" sz="1275">
                  <a:solidFill>
                    <a:srgbClr val="7A8793"/>
                  </a:solidFill>
                  <a:latin typeface="Noto Sans"/>
                  <a:ea typeface="Noto Sans"/>
                  <a:cs typeface="Noto Sans"/>
                  <a:sym typeface="Noto Sans"/>
                </a:rPr>
                <a:t>Acrylic Panel Custom Order System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57240" y="2118112"/>
            <a:ext cx="7362863" cy="2105530"/>
            <a:chOff x="0" y="0"/>
            <a:chExt cx="9817151" cy="280737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817100" cy="2807208"/>
            </a:xfrm>
            <a:custGeom>
              <a:avLst/>
              <a:gdLst/>
              <a:ahLst/>
              <a:cxnLst/>
              <a:rect l="l" t="t" r="r" b="b"/>
              <a:pathLst>
                <a:path w="9817100" h="2807208">
                  <a:moveTo>
                    <a:pt x="0" y="110744"/>
                  </a:moveTo>
                  <a:cubicBezTo>
                    <a:pt x="0" y="49657"/>
                    <a:pt x="49657" y="0"/>
                    <a:pt x="110744" y="0"/>
                  </a:cubicBezTo>
                  <a:lnTo>
                    <a:pt x="9706356" y="0"/>
                  </a:lnTo>
                  <a:cubicBezTo>
                    <a:pt x="9767570" y="0"/>
                    <a:pt x="9817100" y="49657"/>
                    <a:pt x="9817100" y="110744"/>
                  </a:cubicBezTo>
                  <a:lnTo>
                    <a:pt x="9817100" y="2696464"/>
                  </a:lnTo>
                  <a:cubicBezTo>
                    <a:pt x="9817100" y="2757678"/>
                    <a:pt x="9767443" y="2807208"/>
                    <a:pt x="9706356" y="2807208"/>
                  </a:cubicBezTo>
                  <a:lnTo>
                    <a:pt x="110744" y="2807208"/>
                  </a:lnTo>
                  <a:cubicBezTo>
                    <a:pt x="49530" y="2807208"/>
                    <a:pt x="0" y="2757551"/>
                    <a:pt x="0" y="2696464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16B3C7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1647206" y="2470814"/>
            <a:ext cx="2333539" cy="411804"/>
            <a:chOff x="0" y="0"/>
            <a:chExt cx="3111386" cy="54907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111391" cy="549069"/>
            </a:xfrm>
            <a:custGeom>
              <a:avLst/>
              <a:gdLst/>
              <a:ahLst/>
              <a:cxnLst/>
              <a:rect l="l" t="t" r="r" b="b"/>
              <a:pathLst>
                <a:path w="3111391" h="549069">
                  <a:moveTo>
                    <a:pt x="0" y="0"/>
                  </a:moveTo>
                  <a:lnTo>
                    <a:pt x="3111391" y="0"/>
                  </a:lnTo>
                  <a:lnTo>
                    <a:pt x="3111391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0414" b="-60415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3111386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2"/>
                </a:lnSpc>
              </a:pPr>
              <a:r>
                <a:rPr lang="en-US" sz="2551" b="1">
                  <a:solidFill>
                    <a:srgbClr val="16B3C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① 견적 중심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647206" y="3115970"/>
            <a:ext cx="6245657" cy="686333"/>
            <a:chOff x="0" y="0"/>
            <a:chExt cx="8327542" cy="91511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327546" cy="915115"/>
            </a:xfrm>
            <a:custGeom>
              <a:avLst/>
              <a:gdLst/>
              <a:ahLst/>
              <a:cxnLst/>
              <a:rect l="l" t="t" r="r" b="b"/>
              <a:pathLst>
                <a:path w="8327546" h="915115">
                  <a:moveTo>
                    <a:pt x="0" y="0"/>
                  </a:moveTo>
                  <a:lnTo>
                    <a:pt x="8327546" y="0"/>
                  </a:lnTo>
                  <a:lnTo>
                    <a:pt x="8327546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313" b="-127313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8327542" cy="915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0B1720"/>
                  </a:solidFill>
                  <a:latin typeface="Noto Sans"/>
                  <a:ea typeface="Noto Sans"/>
                  <a:cs typeface="Noto Sans"/>
                  <a:sym typeface="Noto Sans"/>
                </a:rPr>
                <a:t>색상, 두께, 가로, 세로, 수량을 입력해 금액 계산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256004" y="2118112"/>
            <a:ext cx="7362863" cy="2105530"/>
            <a:chOff x="0" y="0"/>
            <a:chExt cx="9817151" cy="280737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817100" cy="2807208"/>
            </a:xfrm>
            <a:custGeom>
              <a:avLst/>
              <a:gdLst/>
              <a:ahLst/>
              <a:cxnLst/>
              <a:rect l="l" t="t" r="r" b="b"/>
              <a:pathLst>
                <a:path w="9817100" h="2807208">
                  <a:moveTo>
                    <a:pt x="0" y="110744"/>
                  </a:moveTo>
                  <a:cubicBezTo>
                    <a:pt x="0" y="49657"/>
                    <a:pt x="49657" y="0"/>
                    <a:pt x="110744" y="0"/>
                  </a:cubicBezTo>
                  <a:lnTo>
                    <a:pt x="9706356" y="0"/>
                  </a:lnTo>
                  <a:cubicBezTo>
                    <a:pt x="9767570" y="0"/>
                    <a:pt x="9817100" y="49657"/>
                    <a:pt x="9817100" y="110744"/>
                  </a:cubicBezTo>
                  <a:lnTo>
                    <a:pt x="9817100" y="2696464"/>
                  </a:lnTo>
                  <a:cubicBezTo>
                    <a:pt x="9817100" y="2757678"/>
                    <a:pt x="9767443" y="2807208"/>
                    <a:pt x="9706356" y="2807208"/>
                  </a:cubicBezTo>
                  <a:lnTo>
                    <a:pt x="110744" y="2807208"/>
                  </a:lnTo>
                  <a:cubicBezTo>
                    <a:pt x="49530" y="2807208"/>
                    <a:pt x="0" y="2757551"/>
                    <a:pt x="0" y="2696464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4CA66A"/>
              </a:solidFill>
              <a:prstDash val="solid"/>
              <a:miter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9745970" y="2427583"/>
            <a:ext cx="2832767" cy="498266"/>
            <a:chOff x="0" y="0"/>
            <a:chExt cx="3777023" cy="66435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777028" cy="664351"/>
            </a:xfrm>
            <a:custGeom>
              <a:avLst/>
              <a:gdLst/>
              <a:ahLst/>
              <a:cxnLst/>
              <a:rect l="l" t="t" r="r" b="b"/>
              <a:pathLst>
                <a:path w="3777028" h="664351">
                  <a:moveTo>
                    <a:pt x="0" y="0"/>
                  </a:moveTo>
                  <a:lnTo>
                    <a:pt x="3777028" y="0"/>
                  </a:lnTo>
                  <a:lnTo>
                    <a:pt x="3777028" y="664351"/>
                  </a:lnTo>
                  <a:lnTo>
                    <a:pt x="0" y="6643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931" r="17623" b="-32579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0"/>
              <a:ext cx="3777023" cy="6643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2"/>
                </a:lnSpc>
              </a:pPr>
              <a:r>
                <a:rPr lang="en-US" sz="2551" b="1">
                  <a:solidFill>
                    <a:srgbClr val="4CA66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② 회원별 장바구니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45970" y="3115970"/>
            <a:ext cx="6245657" cy="686333"/>
            <a:chOff x="0" y="0"/>
            <a:chExt cx="8327542" cy="915111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327546" cy="915115"/>
            </a:xfrm>
            <a:custGeom>
              <a:avLst/>
              <a:gdLst/>
              <a:ahLst/>
              <a:cxnLst/>
              <a:rect l="l" t="t" r="r" b="b"/>
              <a:pathLst>
                <a:path w="8327546" h="915115">
                  <a:moveTo>
                    <a:pt x="0" y="0"/>
                  </a:moveTo>
                  <a:lnTo>
                    <a:pt x="8327546" y="0"/>
                  </a:lnTo>
                  <a:lnTo>
                    <a:pt x="8327546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313" b="-127313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8327542" cy="915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0B1720"/>
                  </a:solidFill>
                  <a:latin typeface="Noto Sans"/>
                  <a:ea typeface="Noto Sans"/>
                  <a:cs typeface="Noto Sans"/>
                  <a:sym typeface="Noto Sans"/>
                </a:rPr>
                <a:t>회원번호 기준으로 장바구니 1개를 자동 생성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57240" y="5000720"/>
            <a:ext cx="7362863" cy="2105530"/>
            <a:chOff x="0" y="0"/>
            <a:chExt cx="9817151" cy="2807373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817100" cy="2807208"/>
            </a:xfrm>
            <a:custGeom>
              <a:avLst/>
              <a:gdLst/>
              <a:ahLst/>
              <a:cxnLst/>
              <a:rect l="l" t="t" r="r" b="b"/>
              <a:pathLst>
                <a:path w="9817100" h="2807208">
                  <a:moveTo>
                    <a:pt x="0" y="110744"/>
                  </a:moveTo>
                  <a:cubicBezTo>
                    <a:pt x="0" y="49657"/>
                    <a:pt x="49657" y="0"/>
                    <a:pt x="110744" y="0"/>
                  </a:cubicBezTo>
                  <a:lnTo>
                    <a:pt x="9706356" y="0"/>
                  </a:lnTo>
                  <a:cubicBezTo>
                    <a:pt x="9767570" y="0"/>
                    <a:pt x="9817100" y="49657"/>
                    <a:pt x="9817100" y="110744"/>
                  </a:cubicBezTo>
                  <a:lnTo>
                    <a:pt x="9817100" y="2696464"/>
                  </a:lnTo>
                  <a:cubicBezTo>
                    <a:pt x="9817100" y="2757678"/>
                    <a:pt x="9767443" y="2807208"/>
                    <a:pt x="9706356" y="2807208"/>
                  </a:cubicBezTo>
                  <a:lnTo>
                    <a:pt x="110744" y="2807208"/>
                  </a:lnTo>
                  <a:cubicBezTo>
                    <a:pt x="49530" y="2807208"/>
                    <a:pt x="0" y="2757551"/>
                    <a:pt x="0" y="2696464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F3B03E"/>
              </a:solidFill>
              <a:prstDash val="solid"/>
              <a:miter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1647206" y="5353421"/>
            <a:ext cx="2333539" cy="411804"/>
            <a:chOff x="0" y="0"/>
            <a:chExt cx="3111386" cy="54907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111391" cy="549069"/>
            </a:xfrm>
            <a:custGeom>
              <a:avLst/>
              <a:gdLst/>
              <a:ahLst/>
              <a:cxnLst/>
              <a:rect l="l" t="t" r="r" b="b"/>
              <a:pathLst>
                <a:path w="3111391" h="549069">
                  <a:moveTo>
                    <a:pt x="0" y="0"/>
                  </a:moveTo>
                  <a:lnTo>
                    <a:pt x="3111391" y="0"/>
                  </a:lnTo>
                  <a:lnTo>
                    <a:pt x="3111391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0414" b="-60415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0"/>
              <a:ext cx="3111386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2"/>
                </a:lnSpc>
              </a:pPr>
              <a:r>
                <a:rPr lang="en-US" sz="2551" b="1">
                  <a:solidFill>
                    <a:srgbClr val="F3B03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③ 주문 흐름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647206" y="5998578"/>
            <a:ext cx="6245657" cy="686333"/>
            <a:chOff x="0" y="0"/>
            <a:chExt cx="8327542" cy="915111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327546" cy="915115"/>
            </a:xfrm>
            <a:custGeom>
              <a:avLst/>
              <a:gdLst/>
              <a:ahLst/>
              <a:cxnLst/>
              <a:rect l="l" t="t" r="r" b="b"/>
              <a:pathLst>
                <a:path w="8327546" h="915115">
                  <a:moveTo>
                    <a:pt x="0" y="0"/>
                  </a:moveTo>
                  <a:lnTo>
                    <a:pt x="8327546" y="0"/>
                  </a:lnTo>
                  <a:lnTo>
                    <a:pt x="8327546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313" b="-127313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0"/>
              <a:ext cx="8327542" cy="915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0B1720"/>
                  </a:solidFill>
                  <a:latin typeface="Noto Sans"/>
                  <a:ea typeface="Noto Sans"/>
                  <a:cs typeface="Noto Sans"/>
                  <a:sym typeface="Noto Sans"/>
                </a:rPr>
                <a:t>장바구니 항목을 주문으로 변환하고 재고 차감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256004" y="5000720"/>
            <a:ext cx="7362863" cy="2105530"/>
            <a:chOff x="0" y="0"/>
            <a:chExt cx="9817151" cy="2807373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9817100" cy="2807208"/>
            </a:xfrm>
            <a:custGeom>
              <a:avLst/>
              <a:gdLst/>
              <a:ahLst/>
              <a:cxnLst/>
              <a:rect l="l" t="t" r="r" b="b"/>
              <a:pathLst>
                <a:path w="9817100" h="2807208">
                  <a:moveTo>
                    <a:pt x="0" y="110744"/>
                  </a:moveTo>
                  <a:cubicBezTo>
                    <a:pt x="0" y="49657"/>
                    <a:pt x="49657" y="0"/>
                    <a:pt x="110744" y="0"/>
                  </a:cubicBezTo>
                  <a:lnTo>
                    <a:pt x="9706356" y="0"/>
                  </a:lnTo>
                  <a:cubicBezTo>
                    <a:pt x="9767570" y="0"/>
                    <a:pt x="9817100" y="49657"/>
                    <a:pt x="9817100" y="110744"/>
                  </a:cubicBezTo>
                  <a:lnTo>
                    <a:pt x="9817100" y="2696464"/>
                  </a:lnTo>
                  <a:cubicBezTo>
                    <a:pt x="9817100" y="2757678"/>
                    <a:pt x="9767443" y="2807208"/>
                    <a:pt x="9706356" y="2807208"/>
                  </a:cubicBezTo>
                  <a:lnTo>
                    <a:pt x="110744" y="2807208"/>
                  </a:lnTo>
                  <a:cubicBezTo>
                    <a:pt x="49530" y="2807208"/>
                    <a:pt x="0" y="2757551"/>
                    <a:pt x="0" y="2696464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F26C63"/>
              </a:solidFill>
              <a:prstDash val="solid"/>
              <a:miter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9745970" y="5353421"/>
            <a:ext cx="2333539" cy="411804"/>
            <a:chOff x="0" y="0"/>
            <a:chExt cx="3111386" cy="54907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3111391" cy="549069"/>
            </a:xfrm>
            <a:custGeom>
              <a:avLst/>
              <a:gdLst/>
              <a:ahLst/>
              <a:cxnLst/>
              <a:rect l="l" t="t" r="r" b="b"/>
              <a:pathLst>
                <a:path w="3111391" h="549069">
                  <a:moveTo>
                    <a:pt x="0" y="0"/>
                  </a:moveTo>
                  <a:lnTo>
                    <a:pt x="3111391" y="0"/>
                  </a:lnTo>
                  <a:lnTo>
                    <a:pt x="3111391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0414" b="-60415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0"/>
              <a:ext cx="3111386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2"/>
                </a:lnSpc>
              </a:pPr>
              <a:r>
                <a:rPr lang="en-US" sz="2551" b="1">
                  <a:solidFill>
                    <a:srgbClr val="F26C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④ 관리자 기능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745970" y="5998578"/>
            <a:ext cx="6245657" cy="686333"/>
            <a:chOff x="0" y="0"/>
            <a:chExt cx="8327542" cy="915111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327546" cy="915115"/>
            </a:xfrm>
            <a:custGeom>
              <a:avLst/>
              <a:gdLst/>
              <a:ahLst/>
              <a:cxnLst/>
              <a:rect l="l" t="t" r="r" b="b"/>
              <a:pathLst>
                <a:path w="8327546" h="915115">
                  <a:moveTo>
                    <a:pt x="0" y="0"/>
                  </a:moveTo>
                  <a:lnTo>
                    <a:pt x="8327546" y="0"/>
                  </a:lnTo>
                  <a:lnTo>
                    <a:pt x="8327546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313" b="-127313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0"/>
              <a:ext cx="8327542" cy="915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0B1720"/>
                  </a:solidFill>
                  <a:latin typeface="Noto Sans"/>
                  <a:ea typeface="Noto Sans"/>
                  <a:cs typeface="Noto Sans"/>
                  <a:sym typeface="Noto Sans"/>
                </a:rPr>
                <a:t>기본단가, 재고, 회원, 주문, 배송 상태 관리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773031" y="8430492"/>
            <a:ext cx="14847741" cy="22879"/>
            <a:chOff x="0" y="0"/>
            <a:chExt cx="19796989" cy="30505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9797013" cy="30480"/>
            </a:xfrm>
            <a:custGeom>
              <a:avLst/>
              <a:gdLst/>
              <a:ahLst/>
              <a:cxnLst/>
              <a:rect l="l" t="t" r="r" b="b"/>
              <a:pathLst>
                <a:path w="19797013" h="30480">
                  <a:moveTo>
                    <a:pt x="0" y="0"/>
                  </a:moveTo>
                  <a:lnTo>
                    <a:pt x="19797013" y="3048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12605636" b="-12605719"/>
              </a:stretch>
            </a:blipFill>
            <a:ln w="22878" cap="sq">
              <a:solidFill>
                <a:srgbClr val="D5E0EA"/>
              </a:solidFill>
              <a:prstDash val="solid"/>
              <a:miter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1441304" y="8757647"/>
            <a:ext cx="15099392" cy="480431"/>
            <a:chOff x="0" y="0"/>
            <a:chExt cx="20132523" cy="640575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0132529" cy="640580"/>
            </a:xfrm>
            <a:custGeom>
              <a:avLst/>
              <a:gdLst/>
              <a:ahLst/>
              <a:cxnLst/>
              <a:rect l="l" t="t" r="r" b="b"/>
              <a:pathLst>
                <a:path w="20132529" h="640580">
                  <a:moveTo>
                    <a:pt x="0" y="0"/>
                  </a:moveTo>
                  <a:lnTo>
                    <a:pt x="20132529" y="0"/>
                  </a:lnTo>
                  <a:lnTo>
                    <a:pt x="20132529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2387" b="-562386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0"/>
              <a:ext cx="20132523" cy="640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 b="1">
                  <a:solidFill>
                    <a:srgbClr val="1232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구현 방향: 실제 실행 가능한 콘솔 프로그램 + 산출물 기반 프로젝트 문서화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35" y="-9535"/>
            <a:ext cx="18320909" cy="183785"/>
            <a:chOff x="0" y="0"/>
            <a:chExt cx="24427878" cy="2450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27814" cy="245110"/>
            </a:xfrm>
            <a:custGeom>
              <a:avLst/>
              <a:gdLst/>
              <a:ahLst/>
              <a:cxnLst/>
              <a:rect l="l" t="t" r="r" b="b"/>
              <a:pathLst>
                <a:path w="24427814" h="245110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16B3C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892235" y="480431"/>
            <a:ext cx="14413059" cy="617706"/>
            <a:chOff x="0" y="0"/>
            <a:chExt cx="19217411" cy="82360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217413" cy="823603"/>
            </a:xfrm>
            <a:custGeom>
              <a:avLst/>
              <a:gdLst/>
              <a:ahLst/>
              <a:cxnLst/>
              <a:rect l="l" t="t" r="r" b="b"/>
              <a:pathLst>
                <a:path w="19217413" h="823603">
                  <a:moveTo>
                    <a:pt x="0" y="0"/>
                  </a:moveTo>
                  <a:lnTo>
                    <a:pt x="19217413" y="0"/>
                  </a:lnTo>
                  <a:lnTo>
                    <a:pt x="19217413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4650" b="-40465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19217411" cy="8331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3"/>
                </a:lnSpc>
              </a:pPr>
              <a:r>
                <a:rPr lang="en-US" sz="3752" b="1">
                  <a:solidFill>
                    <a:srgbClr val="1232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03. 요구사항 명세서 정리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33421" y="1125588"/>
            <a:ext cx="13452186" cy="343167"/>
            <a:chOff x="0" y="0"/>
            <a:chExt cx="17936248" cy="4575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936252" cy="457557"/>
            </a:xfrm>
            <a:custGeom>
              <a:avLst/>
              <a:gdLst/>
              <a:ahLst/>
              <a:cxnLst/>
              <a:rect l="l" t="t" r="r" b="b"/>
              <a:pathLst>
                <a:path w="17936252" h="457557">
                  <a:moveTo>
                    <a:pt x="0" y="0"/>
                  </a:moveTo>
                  <a:lnTo>
                    <a:pt x="17936252" y="0"/>
                  </a:lnTo>
                  <a:lnTo>
                    <a:pt x="17936252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3813" b="-713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7936248" cy="4575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11"/>
                </a:lnSpc>
              </a:pPr>
              <a:r>
                <a:rPr lang="en-US" sz="1426">
                  <a:solidFill>
                    <a:srgbClr val="5C6670"/>
                  </a:solidFill>
                  <a:latin typeface="Noto Sans"/>
                  <a:ea typeface="Noto Sans"/>
                  <a:cs typeface="Noto Sans"/>
                  <a:sym typeface="Noto Sans"/>
                </a:rPr>
                <a:t>코드와 산출물의 기능 범위를 일치시킨 결과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82701" y="1472956"/>
            <a:ext cx="1666275" cy="87697"/>
            <a:chOff x="0" y="0"/>
            <a:chExt cx="2221700" cy="1169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21738" cy="116967"/>
            </a:xfrm>
            <a:custGeom>
              <a:avLst/>
              <a:gdLst/>
              <a:ahLst/>
              <a:cxnLst/>
              <a:rect l="l" t="t" r="r" b="b"/>
              <a:pathLst>
                <a:path w="2221738" h="116967">
                  <a:moveTo>
                    <a:pt x="0" y="0"/>
                  </a:moveTo>
                  <a:lnTo>
                    <a:pt x="2221738" y="0"/>
                  </a:lnTo>
                  <a:lnTo>
                    <a:pt x="2221738" y="116967"/>
                  </a:lnTo>
                  <a:lnTo>
                    <a:pt x="0" y="116967"/>
                  </a:lnTo>
                  <a:close/>
                </a:path>
              </a:pathLst>
            </a:custGeom>
            <a:solidFill>
              <a:srgbClr val="16B3C7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6952500" y="9677343"/>
            <a:ext cx="549069" cy="343167"/>
            <a:chOff x="0" y="0"/>
            <a:chExt cx="732092" cy="45755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32092" cy="457557"/>
            </a:xfrm>
            <a:custGeom>
              <a:avLst/>
              <a:gdLst/>
              <a:ahLst/>
              <a:cxnLst/>
              <a:rect l="l" t="t" r="r" b="b"/>
              <a:pathLst>
                <a:path w="732092" h="457557">
                  <a:moveTo>
                    <a:pt x="0" y="0"/>
                  </a:moveTo>
                  <a:lnTo>
                    <a:pt x="732092" y="0"/>
                  </a:lnTo>
                  <a:lnTo>
                    <a:pt x="732092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r="-30189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732092" cy="4670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1"/>
                </a:lnSpc>
              </a:pPr>
              <a:r>
                <a:rPr lang="en-US" sz="1275">
                  <a:solidFill>
                    <a:srgbClr val="5C6670"/>
                  </a:solidFill>
                  <a:latin typeface="Noto Sans"/>
                  <a:ea typeface="Noto Sans"/>
                  <a:cs typeface="Noto Sans"/>
                  <a:sym typeface="Noto Sans"/>
                </a:rPr>
                <a:t>04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92235" y="9677343"/>
            <a:ext cx="5490686" cy="343167"/>
            <a:chOff x="0" y="0"/>
            <a:chExt cx="7320915" cy="45755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320920" cy="457557"/>
            </a:xfrm>
            <a:custGeom>
              <a:avLst/>
              <a:gdLst/>
              <a:ahLst/>
              <a:cxnLst/>
              <a:rect l="l" t="t" r="r" b="b"/>
              <a:pathLst>
                <a:path w="7320920" h="457557">
                  <a:moveTo>
                    <a:pt x="0" y="0"/>
                  </a:moveTo>
                  <a:lnTo>
                    <a:pt x="7320920" y="0"/>
                  </a:lnTo>
                  <a:lnTo>
                    <a:pt x="7320920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1760" b="-261760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7320915" cy="4670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1"/>
                </a:lnSpc>
              </a:pPr>
              <a:r>
                <a:rPr lang="en-US" sz="1275">
                  <a:solidFill>
                    <a:srgbClr val="7A8793"/>
                  </a:solidFill>
                  <a:latin typeface="Noto Sans"/>
                  <a:ea typeface="Noto Sans"/>
                  <a:cs typeface="Noto Sans"/>
                  <a:sym typeface="Noto Sans"/>
                </a:rPr>
                <a:t>Acrylic Panel Custom Order System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19975" y="1843573"/>
            <a:ext cx="5029324" cy="6676530"/>
            <a:chOff x="0" y="0"/>
            <a:chExt cx="6705765" cy="890204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705727" cy="8902065"/>
            </a:xfrm>
            <a:custGeom>
              <a:avLst/>
              <a:gdLst/>
              <a:ahLst/>
              <a:cxnLst/>
              <a:rect l="l" t="t" r="r" b="b"/>
              <a:pathLst>
                <a:path w="6705727" h="8902065">
                  <a:moveTo>
                    <a:pt x="0" y="110236"/>
                  </a:moveTo>
                  <a:cubicBezTo>
                    <a:pt x="0" y="49403"/>
                    <a:pt x="49403" y="0"/>
                    <a:pt x="110236" y="0"/>
                  </a:cubicBezTo>
                  <a:lnTo>
                    <a:pt x="6595491" y="0"/>
                  </a:lnTo>
                  <a:cubicBezTo>
                    <a:pt x="6656324" y="0"/>
                    <a:pt x="6705727" y="49403"/>
                    <a:pt x="6705727" y="110236"/>
                  </a:cubicBezTo>
                  <a:lnTo>
                    <a:pt x="6705727" y="8791829"/>
                  </a:lnTo>
                  <a:cubicBezTo>
                    <a:pt x="6705727" y="8852662"/>
                    <a:pt x="6656324" y="8902065"/>
                    <a:pt x="6595491" y="8902065"/>
                  </a:cubicBezTo>
                  <a:lnTo>
                    <a:pt x="110236" y="8902065"/>
                  </a:lnTo>
                  <a:cubicBezTo>
                    <a:pt x="49403" y="8902065"/>
                    <a:pt x="0" y="8852662"/>
                    <a:pt x="0" y="879182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F3B03E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6647926" y="1843573"/>
            <a:ext cx="5029324" cy="6676530"/>
            <a:chOff x="0" y="0"/>
            <a:chExt cx="6705765" cy="89020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705727" cy="8902065"/>
            </a:xfrm>
            <a:custGeom>
              <a:avLst/>
              <a:gdLst/>
              <a:ahLst/>
              <a:cxnLst/>
              <a:rect l="l" t="t" r="r" b="b"/>
              <a:pathLst>
                <a:path w="6705727" h="8902065">
                  <a:moveTo>
                    <a:pt x="0" y="110236"/>
                  </a:moveTo>
                  <a:cubicBezTo>
                    <a:pt x="0" y="49403"/>
                    <a:pt x="49403" y="0"/>
                    <a:pt x="110236" y="0"/>
                  </a:cubicBezTo>
                  <a:lnTo>
                    <a:pt x="6595491" y="0"/>
                  </a:lnTo>
                  <a:cubicBezTo>
                    <a:pt x="6656324" y="0"/>
                    <a:pt x="6705727" y="49403"/>
                    <a:pt x="6705727" y="110236"/>
                  </a:cubicBezTo>
                  <a:lnTo>
                    <a:pt x="6705727" y="8791829"/>
                  </a:lnTo>
                  <a:cubicBezTo>
                    <a:pt x="6705727" y="8852662"/>
                    <a:pt x="6656324" y="8902065"/>
                    <a:pt x="6595491" y="8902065"/>
                  </a:cubicBezTo>
                  <a:lnTo>
                    <a:pt x="110236" y="8902065"/>
                  </a:lnTo>
                  <a:cubicBezTo>
                    <a:pt x="49403" y="8902065"/>
                    <a:pt x="0" y="8852662"/>
                    <a:pt x="0" y="879182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4CA66A"/>
              </a:solidFill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12275887" y="1843573"/>
            <a:ext cx="5029324" cy="6676530"/>
            <a:chOff x="0" y="0"/>
            <a:chExt cx="6705765" cy="890204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705727" cy="8902065"/>
            </a:xfrm>
            <a:custGeom>
              <a:avLst/>
              <a:gdLst/>
              <a:ahLst/>
              <a:cxnLst/>
              <a:rect l="l" t="t" r="r" b="b"/>
              <a:pathLst>
                <a:path w="6705727" h="8902065">
                  <a:moveTo>
                    <a:pt x="0" y="110236"/>
                  </a:moveTo>
                  <a:cubicBezTo>
                    <a:pt x="0" y="49403"/>
                    <a:pt x="49403" y="0"/>
                    <a:pt x="110236" y="0"/>
                  </a:cubicBezTo>
                  <a:lnTo>
                    <a:pt x="6595491" y="0"/>
                  </a:lnTo>
                  <a:cubicBezTo>
                    <a:pt x="6656324" y="0"/>
                    <a:pt x="6705727" y="49403"/>
                    <a:pt x="6705727" y="110236"/>
                  </a:cubicBezTo>
                  <a:lnTo>
                    <a:pt x="6705727" y="8791829"/>
                  </a:lnTo>
                  <a:cubicBezTo>
                    <a:pt x="6705727" y="8852662"/>
                    <a:pt x="6656324" y="8902065"/>
                    <a:pt x="6595491" y="8902065"/>
                  </a:cubicBezTo>
                  <a:lnTo>
                    <a:pt x="110236" y="8902065"/>
                  </a:lnTo>
                  <a:cubicBezTo>
                    <a:pt x="49403" y="8902065"/>
                    <a:pt x="0" y="8852662"/>
                    <a:pt x="0" y="879182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2D6CDF"/>
              </a:solidFill>
              <a:prstDash val="solid"/>
              <a:miter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1468755" y="2223726"/>
            <a:ext cx="3843480" cy="480431"/>
            <a:chOff x="0" y="0"/>
            <a:chExt cx="5124640" cy="64057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124644" cy="640580"/>
            </a:xfrm>
            <a:custGeom>
              <a:avLst/>
              <a:gdLst/>
              <a:ahLst/>
              <a:cxnLst/>
              <a:rect l="l" t="t" r="r" b="b"/>
              <a:pathLst>
                <a:path w="5124644" h="640580">
                  <a:moveTo>
                    <a:pt x="0" y="0"/>
                  </a:moveTo>
                  <a:lnTo>
                    <a:pt x="5124644" y="0"/>
                  </a:lnTo>
                  <a:lnTo>
                    <a:pt x="5124644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880" b="-105879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5124640" cy="640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22"/>
                </a:lnSpc>
              </a:pPr>
              <a:r>
                <a:rPr lang="en-US" sz="2852" b="1">
                  <a:solidFill>
                    <a:srgbClr val="1232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기능 요구사항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459230" y="2900534"/>
            <a:ext cx="1254471" cy="87697"/>
            <a:chOff x="0" y="0"/>
            <a:chExt cx="1672628" cy="11692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672590" cy="116967"/>
            </a:xfrm>
            <a:custGeom>
              <a:avLst/>
              <a:gdLst/>
              <a:ahLst/>
              <a:cxnLst/>
              <a:rect l="l" t="t" r="r" b="b"/>
              <a:pathLst>
                <a:path w="1672590" h="116967">
                  <a:moveTo>
                    <a:pt x="0" y="0"/>
                  </a:moveTo>
                  <a:lnTo>
                    <a:pt x="1672590" y="0"/>
                  </a:lnTo>
                  <a:lnTo>
                    <a:pt x="1672590" y="116967"/>
                  </a:lnTo>
                  <a:lnTo>
                    <a:pt x="0" y="116967"/>
                  </a:lnTo>
                  <a:close/>
                </a:path>
              </a:pathLst>
            </a:custGeom>
            <a:solidFill>
              <a:srgbClr val="F3B03E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1647206" y="3500314"/>
            <a:ext cx="3774853" cy="3843480"/>
            <a:chOff x="0" y="0"/>
            <a:chExt cx="5033137" cy="512464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033132" cy="5124644"/>
            </a:xfrm>
            <a:custGeom>
              <a:avLst/>
              <a:gdLst/>
              <a:ahLst/>
              <a:cxnLst/>
              <a:rect l="l" t="t" r="r" b="b"/>
              <a:pathLst>
                <a:path w="5033132" h="5124644">
                  <a:moveTo>
                    <a:pt x="0" y="0"/>
                  </a:moveTo>
                  <a:lnTo>
                    <a:pt x="5033132" y="0"/>
                  </a:lnTo>
                  <a:lnTo>
                    <a:pt x="5033132" y="5124644"/>
                  </a:lnTo>
                  <a:lnTo>
                    <a:pt x="0" y="51246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0636" r="-80636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5033137" cy="5124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0B1720"/>
                  </a:solidFill>
                  <a:latin typeface="Noto Sans"/>
                  <a:ea typeface="Noto Sans"/>
                  <a:cs typeface="Noto Sans"/>
                  <a:sym typeface="Noto Sans"/>
                </a:rPr>
                <a:t>회원가입·로그인</a:t>
              </a:r>
            </a:p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0B1720"/>
                  </a:solidFill>
                  <a:latin typeface="Noto Sans"/>
                  <a:ea typeface="Noto Sans"/>
                  <a:cs typeface="Noto Sans"/>
                  <a:sym typeface="Noto Sans"/>
                </a:rPr>
                <a:t>견적 계산</a:t>
              </a:r>
            </a:p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0B1720"/>
                  </a:solidFill>
                  <a:latin typeface="Noto Sans"/>
                  <a:ea typeface="Noto Sans"/>
                  <a:cs typeface="Noto Sans"/>
                  <a:sym typeface="Noto Sans"/>
                </a:rPr>
                <a:t>장바구니 관리</a:t>
              </a:r>
            </a:p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0B1720"/>
                  </a:solidFill>
                  <a:latin typeface="Noto Sans"/>
                  <a:ea typeface="Noto Sans"/>
                  <a:cs typeface="Noto Sans"/>
                  <a:sym typeface="Noto Sans"/>
                </a:rPr>
                <a:t>주문·배송 상태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096716" y="2223726"/>
            <a:ext cx="3843480" cy="480431"/>
            <a:chOff x="0" y="0"/>
            <a:chExt cx="5124640" cy="640575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124644" cy="640580"/>
            </a:xfrm>
            <a:custGeom>
              <a:avLst/>
              <a:gdLst/>
              <a:ahLst/>
              <a:cxnLst/>
              <a:rect l="l" t="t" r="r" b="b"/>
              <a:pathLst>
                <a:path w="5124644" h="640580">
                  <a:moveTo>
                    <a:pt x="0" y="0"/>
                  </a:moveTo>
                  <a:lnTo>
                    <a:pt x="5124644" y="0"/>
                  </a:lnTo>
                  <a:lnTo>
                    <a:pt x="5124644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880" b="-105879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5124640" cy="640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22"/>
                </a:lnSpc>
              </a:pPr>
              <a:r>
                <a:rPr lang="en-US" sz="2852" b="1">
                  <a:solidFill>
                    <a:srgbClr val="1232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비기능 요구사항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087181" y="2900534"/>
            <a:ext cx="1254471" cy="87697"/>
            <a:chOff x="0" y="0"/>
            <a:chExt cx="1672628" cy="116929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672590" cy="116967"/>
            </a:xfrm>
            <a:custGeom>
              <a:avLst/>
              <a:gdLst/>
              <a:ahLst/>
              <a:cxnLst/>
              <a:rect l="l" t="t" r="r" b="b"/>
              <a:pathLst>
                <a:path w="1672590" h="116967">
                  <a:moveTo>
                    <a:pt x="0" y="0"/>
                  </a:moveTo>
                  <a:lnTo>
                    <a:pt x="1672590" y="0"/>
                  </a:lnTo>
                  <a:lnTo>
                    <a:pt x="1672590" y="116967"/>
                  </a:lnTo>
                  <a:lnTo>
                    <a:pt x="0" y="116967"/>
                  </a:lnTo>
                  <a:close/>
                </a:path>
              </a:pathLst>
            </a:custGeom>
            <a:solidFill>
              <a:srgbClr val="4CA66A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7275166" y="3500314"/>
            <a:ext cx="3774853" cy="3843483"/>
            <a:chOff x="0" y="0"/>
            <a:chExt cx="5033137" cy="512464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033132" cy="5124647"/>
            </a:xfrm>
            <a:custGeom>
              <a:avLst/>
              <a:gdLst/>
              <a:ahLst/>
              <a:cxnLst/>
              <a:rect l="l" t="t" r="r" b="b"/>
              <a:pathLst>
                <a:path w="5033132" h="5124647">
                  <a:moveTo>
                    <a:pt x="0" y="0"/>
                  </a:moveTo>
                  <a:lnTo>
                    <a:pt x="5033132" y="0"/>
                  </a:lnTo>
                  <a:lnTo>
                    <a:pt x="5033132" y="5124647"/>
                  </a:lnTo>
                  <a:lnTo>
                    <a:pt x="0" y="51246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0636" r="-80636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5033137" cy="51246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0B1720"/>
                  </a:solidFill>
                  <a:latin typeface="Noto Sans"/>
                  <a:ea typeface="Noto Sans"/>
                  <a:cs typeface="Noto Sans"/>
                  <a:sym typeface="Noto Sans"/>
                </a:rPr>
                <a:t>입력값 검증</a:t>
              </a:r>
            </a:p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0B1720"/>
                  </a:solidFill>
                  <a:latin typeface="Noto Sans"/>
                  <a:ea typeface="Noto Sans"/>
                  <a:cs typeface="Noto Sans"/>
                  <a:sym typeface="Noto Sans"/>
                </a:rPr>
                <a:t>관리자 권한 분리</a:t>
              </a:r>
            </a:p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0B1720"/>
                  </a:solidFill>
                  <a:latin typeface="Noto Sans"/>
                  <a:ea typeface="Noto Sans"/>
                  <a:cs typeface="Noto Sans"/>
                  <a:sym typeface="Noto Sans"/>
                </a:rPr>
                <a:t>콘솔 가독성</a:t>
              </a:r>
            </a:p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0B1720"/>
                  </a:solidFill>
                  <a:latin typeface="Noto Sans"/>
                  <a:ea typeface="Noto Sans"/>
                  <a:cs typeface="Noto Sans"/>
                  <a:sym typeface="Noto Sans"/>
                </a:rPr>
                <a:t>재고 부족 방지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2724676" y="2223726"/>
            <a:ext cx="3843480" cy="480431"/>
            <a:chOff x="0" y="0"/>
            <a:chExt cx="5124640" cy="640575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124644" cy="640580"/>
            </a:xfrm>
            <a:custGeom>
              <a:avLst/>
              <a:gdLst/>
              <a:ahLst/>
              <a:cxnLst/>
              <a:rect l="l" t="t" r="r" b="b"/>
              <a:pathLst>
                <a:path w="5124644" h="640580">
                  <a:moveTo>
                    <a:pt x="0" y="0"/>
                  </a:moveTo>
                  <a:lnTo>
                    <a:pt x="5124644" y="0"/>
                  </a:lnTo>
                  <a:lnTo>
                    <a:pt x="5124644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880" b="-105879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0"/>
              <a:ext cx="5124640" cy="640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22"/>
                </a:lnSpc>
              </a:pPr>
              <a:r>
                <a:rPr lang="en-US" sz="2852" b="1">
                  <a:solidFill>
                    <a:srgbClr val="1232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향후 개선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2715142" y="2900534"/>
            <a:ext cx="1254471" cy="87697"/>
            <a:chOff x="0" y="0"/>
            <a:chExt cx="1672628" cy="11692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672590" cy="116967"/>
            </a:xfrm>
            <a:custGeom>
              <a:avLst/>
              <a:gdLst/>
              <a:ahLst/>
              <a:cxnLst/>
              <a:rect l="l" t="t" r="r" b="b"/>
              <a:pathLst>
                <a:path w="1672590" h="116967">
                  <a:moveTo>
                    <a:pt x="0" y="0"/>
                  </a:moveTo>
                  <a:lnTo>
                    <a:pt x="1672590" y="0"/>
                  </a:lnTo>
                  <a:lnTo>
                    <a:pt x="1672590" y="116967"/>
                  </a:lnTo>
                  <a:lnTo>
                    <a:pt x="0" y="116967"/>
                  </a:lnTo>
                  <a:close/>
                </a:path>
              </a:pathLst>
            </a:custGeom>
            <a:solidFill>
              <a:srgbClr val="2D6CDF"/>
            </a:solidFill>
          </p:spPr>
        </p:sp>
      </p:grpSp>
      <p:grpSp>
        <p:nvGrpSpPr>
          <p:cNvPr id="45" name="Group 45"/>
          <p:cNvGrpSpPr/>
          <p:nvPr/>
        </p:nvGrpSpPr>
        <p:grpSpPr>
          <a:xfrm>
            <a:off x="12903117" y="3500314"/>
            <a:ext cx="3774853" cy="3843483"/>
            <a:chOff x="0" y="0"/>
            <a:chExt cx="5033137" cy="5124644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5033132" cy="5124647"/>
            </a:xfrm>
            <a:custGeom>
              <a:avLst/>
              <a:gdLst/>
              <a:ahLst/>
              <a:cxnLst/>
              <a:rect l="l" t="t" r="r" b="b"/>
              <a:pathLst>
                <a:path w="5033132" h="5124647">
                  <a:moveTo>
                    <a:pt x="0" y="0"/>
                  </a:moveTo>
                  <a:lnTo>
                    <a:pt x="5033132" y="0"/>
                  </a:lnTo>
                  <a:lnTo>
                    <a:pt x="5033132" y="5124647"/>
                  </a:lnTo>
                  <a:lnTo>
                    <a:pt x="0" y="51246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0636" r="-80636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0"/>
              <a:ext cx="5033137" cy="51246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0B1720"/>
                  </a:solidFill>
                  <a:latin typeface="Noto Sans"/>
                  <a:ea typeface="Noto Sans"/>
                  <a:cs typeface="Noto Sans"/>
                  <a:sym typeface="Noto Sans"/>
                </a:rPr>
                <a:t>결제 기능</a:t>
              </a:r>
            </a:p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0B1720"/>
                  </a:solidFill>
                  <a:latin typeface="Noto Sans"/>
                  <a:ea typeface="Noto Sans"/>
                  <a:cs typeface="Noto Sans"/>
                  <a:sym typeface="Noto Sans"/>
                </a:rPr>
                <a:t>기성품 판매</a:t>
              </a:r>
            </a:p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0B1720"/>
                  </a:solidFill>
                  <a:latin typeface="Noto Sans"/>
                  <a:ea typeface="Noto Sans"/>
                  <a:cs typeface="Noto Sans"/>
                  <a:sym typeface="Noto Sans"/>
                </a:rPr>
                <a:t>회원 탈퇴/강퇴</a:t>
              </a:r>
            </a:p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0B1720"/>
                  </a:solidFill>
                  <a:latin typeface="Noto Sans"/>
                  <a:ea typeface="Noto Sans"/>
                  <a:cs typeface="Noto Sans"/>
                  <a:sym typeface="Noto Sans"/>
                </a:rPr>
                <a:t>장바구니 비우기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372676" y="8853735"/>
            <a:ext cx="15648470" cy="452980"/>
            <a:chOff x="0" y="0"/>
            <a:chExt cx="20864627" cy="603974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0864621" cy="603976"/>
            </a:xfrm>
            <a:custGeom>
              <a:avLst/>
              <a:gdLst/>
              <a:ahLst/>
              <a:cxnLst/>
              <a:rect l="l" t="t" r="r" b="b"/>
              <a:pathLst>
                <a:path w="20864621" h="603976">
                  <a:moveTo>
                    <a:pt x="0" y="0"/>
                  </a:moveTo>
                  <a:lnTo>
                    <a:pt x="20864621" y="0"/>
                  </a:lnTo>
                  <a:lnTo>
                    <a:pt x="20864621" y="603976"/>
                  </a:lnTo>
                  <a:lnTo>
                    <a:pt x="0" y="603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23119" b="-623119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9525"/>
              <a:ext cx="20864627" cy="6134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31"/>
                </a:lnSpc>
              </a:pPr>
              <a:r>
                <a:rPr lang="en-US" sz="2026">
                  <a:solidFill>
                    <a:srgbClr val="5C6670"/>
                  </a:solidFill>
                  <a:latin typeface="Noto Sans"/>
                  <a:ea typeface="Noto Sans"/>
                  <a:cs typeface="Noto Sans"/>
                  <a:sym typeface="Noto Sans"/>
                </a:rPr>
                <a:t>명세서에는 실제 메뉴에서 실행되는 기능 중심으로 반영하고, 코드에만 존재하는 미사용 메서드는 요구사항에서 제외했습니다.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35" y="-9535"/>
            <a:ext cx="18320909" cy="183785"/>
            <a:chOff x="0" y="0"/>
            <a:chExt cx="24427878" cy="2450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27814" cy="245110"/>
            </a:xfrm>
            <a:custGeom>
              <a:avLst/>
              <a:gdLst/>
              <a:ahLst/>
              <a:cxnLst/>
              <a:rect l="l" t="t" r="r" b="b"/>
              <a:pathLst>
                <a:path w="24427814" h="245110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16B3C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892235" y="480431"/>
            <a:ext cx="14413059" cy="617706"/>
            <a:chOff x="0" y="0"/>
            <a:chExt cx="19217411" cy="82360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217413" cy="823603"/>
            </a:xfrm>
            <a:custGeom>
              <a:avLst/>
              <a:gdLst/>
              <a:ahLst/>
              <a:cxnLst/>
              <a:rect l="l" t="t" r="r" b="b"/>
              <a:pathLst>
                <a:path w="19217413" h="823603">
                  <a:moveTo>
                    <a:pt x="0" y="0"/>
                  </a:moveTo>
                  <a:lnTo>
                    <a:pt x="19217413" y="0"/>
                  </a:lnTo>
                  <a:lnTo>
                    <a:pt x="19217413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4650" b="-40465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19217411" cy="8331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3"/>
                </a:lnSpc>
              </a:pPr>
              <a:r>
                <a:rPr lang="en-US" sz="3752" b="1">
                  <a:solidFill>
                    <a:srgbClr val="1232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04. 메뉴구성도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33421" y="1125588"/>
            <a:ext cx="13452186" cy="343167"/>
            <a:chOff x="0" y="0"/>
            <a:chExt cx="17936248" cy="4575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936252" cy="457557"/>
            </a:xfrm>
            <a:custGeom>
              <a:avLst/>
              <a:gdLst/>
              <a:ahLst/>
              <a:cxnLst/>
              <a:rect l="l" t="t" r="r" b="b"/>
              <a:pathLst>
                <a:path w="17936252" h="457557">
                  <a:moveTo>
                    <a:pt x="0" y="0"/>
                  </a:moveTo>
                  <a:lnTo>
                    <a:pt x="17936252" y="0"/>
                  </a:lnTo>
                  <a:lnTo>
                    <a:pt x="17936252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3813" b="-713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7936248" cy="4575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11"/>
                </a:lnSpc>
              </a:pPr>
              <a:r>
                <a:rPr lang="en-US" sz="1426">
                  <a:solidFill>
                    <a:srgbClr val="5C6670"/>
                  </a:solidFill>
                  <a:latin typeface="Noto Sans"/>
                  <a:ea typeface="Noto Sans"/>
                  <a:cs typeface="Noto Sans"/>
                  <a:sym typeface="Noto Sans"/>
                </a:rPr>
                <a:t>비회원·회원·관리자 메뉴 흐름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82701" y="1472956"/>
            <a:ext cx="1666275" cy="87697"/>
            <a:chOff x="0" y="0"/>
            <a:chExt cx="2221700" cy="1169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21738" cy="116967"/>
            </a:xfrm>
            <a:custGeom>
              <a:avLst/>
              <a:gdLst/>
              <a:ahLst/>
              <a:cxnLst/>
              <a:rect l="l" t="t" r="r" b="b"/>
              <a:pathLst>
                <a:path w="2221738" h="116967">
                  <a:moveTo>
                    <a:pt x="0" y="0"/>
                  </a:moveTo>
                  <a:lnTo>
                    <a:pt x="2221738" y="0"/>
                  </a:lnTo>
                  <a:lnTo>
                    <a:pt x="2221738" y="116967"/>
                  </a:lnTo>
                  <a:lnTo>
                    <a:pt x="0" y="116967"/>
                  </a:lnTo>
                  <a:close/>
                </a:path>
              </a:pathLst>
            </a:custGeom>
            <a:solidFill>
              <a:srgbClr val="16B3C7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6952500" y="9677343"/>
            <a:ext cx="549069" cy="343167"/>
            <a:chOff x="0" y="0"/>
            <a:chExt cx="732092" cy="45755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32092" cy="457557"/>
            </a:xfrm>
            <a:custGeom>
              <a:avLst/>
              <a:gdLst/>
              <a:ahLst/>
              <a:cxnLst/>
              <a:rect l="l" t="t" r="r" b="b"/>
              <a:pathLst>
                <a:path w="732092" h="457557">
                  <a:moveTo>
                    <a:pt x="0" y="0"/>
                  </a:moveTo>
                  <a:lnTo>
                    <a:pt x="732092" y="0"/>
                  </a:lnTo>
                  <a:lnTo>
                    <a:pt x="732092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r="-30189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732092" cy="4670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1"/>
                </a:lnSpc>
              </a:pPr>
              <a:r>
                <a:rPr lang="en-US" sz="1275">
                  <a:solidFill>
                    <a:srgbClr val="5C6670"/>
                  </a:solidFill>
                  <a:latin typeface="Noto Sans"/>
                  <a:ea typeface="Noto Sans"/>
                  <a:cs typeface="Noto Sans"/>
                  <a:sym typeface="Noto Sans"/>
                </a:rPr>
                <a:t>05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92235" y="9677343"/>
            <a:ext cx="5490686" cy="343167"/>
            <a:chOff x="0" y="0"/>
            <a:chExt cx="7320915" cy="45755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320920" cy="457557"/>
            </a:xfrm>
            <a:custGeom>
              <a:avLst/>
              <a:gdLst/>
              <a:ahLst/>
              <a:cxnLst/>
              <a:rect l="l" t="t" r="r" b="b"/>
              <a:pathLst>
                <a:path w="7320920" h="457557">
                  <a:moveTo>
                    <a:pt x="0" y="0"/>
                  </a:moveTo>
                  <a:lnTo>
                    <a:pt x="7320920" y="0"/>
                  </a:lnTo>
                  <a:lnTo>
                    <a:pt x="7320920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1760" b="-261760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7320915" cy="4670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1"/>
                </a:lnSpc>
              </a:pPr>
              <a:r>
                <a:rPr lang="en-US" sz="1275">
                  <a:solidFill>
                    <a:srgbClr val="7A8793"/>
                  </a:solidFill>
                  <a:latin typeface="Noto Sans"/>
                  <a:ea typeface="Noto Sans"/>
                  <a:cs typeface="Noto Sans"/>
                  <a:sym typeface="Noto Sans"/>
                </a:rPr>
                <a:t>Acrylic Panel Custom Order System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78789" y="1706308"/>
            <a:ext cx="16491137" cy="7774667"/>
            <a:chOff x="0" y="0"/>
            <a:chExt cx="21988183" cy="1036622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988146" cy="10366249"/>
            </a:xfrm>
            <a:custGeom>
              <a:avLst/>
              <a:gdLst/>
              <a:ahLst/>
              <a:cxnLst/>
              <a:rect l="l" t="t" r="r" b="b"/>
              <a:pathLst>
                <a:path w="21988146" h="10366249">
                  <a:moveTo>
                    <a:pt x="0" y="110109"/>
                  </a:moveTo>
                  <a:cubicBezTo>
                    <a:pt x="0" y="49276"/>
                    <a:pt x="49276" y="0"/>
                    <a:pt x="110109" y="0"/>
                  </a:cubicBezTo>
                  <a:lnTo>
                    <a:pt x="21878037" y="0"/>
                  </a:lnTo>
                  <a:cubicBezTo>
                    <a:pt x="21938870" y="0"/>
                    <a:pt x="21988146" y="49276"/>
                    <a:pt x="21988146" y="110109"/>
                  </a:cubicBezTo>
                  <a:lnTo>
                    <a:pt x="21988146" y="10256139"/>
                  </a:lnTo>
                  <a:cubicBezTo>
                    <a:pt x="21988146" y="10316973"/>
                    <a:pt x="21938870" y="10366249"/>
                    <a:pt x="21878037" y="10366249"/>
                  </a:cubicBezTo>
                  <a:lnTo>
                    <a:pt x="110109" y="10366249"/>
                  </a:lnTo>
                  <a:cubicBezTo>
                    <a:pt x="49276" y="10366249"/>
                    <a:pt x="0" y="10316973"/>
                    <a:pt x="0" y="1025613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E0EA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5502383" y="1839382"/>
            <a:ext cx="7389038" cy="7000627"/>
            <a:chOff x="0" y="0"/>
            <a:chExt cx="9852050" cy="9334170"/>
          </a:xfrm>
        </p:grpSpPr>
        <p:sp>
          <p:nvSpPr>
            <p:cNvPr id="21" name="Freeform 21" descr="/mnt/data/acrylic_menu_structure.drawio.png"/>
            <p:cNvSpPr/>
            <p:nvPr/>
          </p:nvSpPr>
          <p:spPr>
            <a:xfrm>
              <a:off x="0" y="0"/>
              <a:ext cx="9852025" cy="9334119"/>
            </a:xfrm>
            <a:custGeom>
              <a:avLst/>
              <a:gdLst/>
              <a:ahLst/>
              <a:cxnLst/>
              <a:rect l="l" t="t" r="r" b="b"/>
              <a:pathLst>
                <a:path w="9852025" h="9334119">
                  <a:moveTo>
                    <a:pt x="0" y="0"/>
                  </a:moveTo>
                  <a:lnTo>
                    <a:pt x="9852025" y="0"/>
                  </a:lnTo>
                  <a:lnTo>
                    <a:pt x="9852025" y="9334119"/>
                  </a:lnTo>
                  <a:lnTo>
                    <a:pt x="0" y="9334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1235402" y="9004735"/>
            <a:ext cx="7412431" cy="439255"/>
            <a:chOff x="0" y="0"/>
            <a:chExt cx="9883242" cy="58567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883267" cy="585724"/>
            </a:xfrm>
            <a:custGeom>
              <a:avLst/>
              <a:gdLst/>
              <a:ahLst/>
              <a:cxnLst/>
              <a:rect l="l" t="t" r="r" b="b"/>
              <a:pathLst>
                <a:path w="9883267" h="585724">
                  <a:moveTo>
                    <a:pt x="0" y="0"/>
                  </a:moveTo>
                  <a:lnTo>
                    <a:pt x="9883267" y="0"/>
                  </a:lnTo>
                  <a:lnTo>
                    <a:pt x="9883267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0"/>
              <a:ext cx="9883242" cy="5856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1"/>
                </a:lnSpc>
              </a:pPr>
              <a:r>
                <a:rPr lang="en-US" sz="1501" b="1">
                  <a:solidFill>
                    <a:srgbClr val="16B3C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로그인 성공 후 사용자 유형에 따라 회원/관리자 메뉴로 분기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35" y="-9535"/>
            <a:ext cx="18320909" cy="183785"/>
            <a:chOff x="0" y="0"/>
            <a:chExt cx="24427878" cy="2450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27814" cy="245110"/>
            </a:xfrm>
            <a:custGeom>
              <a:avLst/>
              <a:gdLst/>
              <a:ahLst/>
              <a:cxnLst/>
              <a:rect l="l" t="t" r="r" b="b"/>
              <a:pathLst>
                <a:path w="24427814" h="245110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16B3C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892235" y="480431"/>
            <a:ext cx="14413059" cy="617706"/>
            <a:chOff x="0" y="0"/>
            <a:chExt cx="19217411" cy="82360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217413" cy="823603"/>
            </a:xfrm>
            <a:custGeom>
              <a:avLst/>
              <a:gdLst/>
              <a:ahLst/>
              <a:cxnLst/>
              <a:rect l="l" t="t" r="r" b="b"/>
              <a:pathLst>
                <a:path w="19217413" h="823603">
                  <a:moveTo>
                    <a:pt x="0" y="0"/>
                  </a:moveTo>
                  <a:lnTo>
                    <a:pt x="19217413" y="0"/>
                  </a:lnTo>
                  <a:lnTo>
                    <a:pt x="19217413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4650" b="-40465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19217411" cy="8331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3"/>
                </a:lnSpc>
              </a:pPr>
              <a:r>
                <a:rPr lang="en-US" sz="3752" b="1">
                  <a:solidFill>
                    <a:srgbClr val="1232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05. 유스케이스 다이어그램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33421" y="1125588"/>
            <a:ext cx="13452186" cy="343167"/>
            <a:chOff x="0" y="0"/>
            <a:chExt cx="17936248" cy="4575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936252" cy="457557"/>
            </a:xfrm>
            <a:custGeom>
              <a:avLst/>
              <a:gdLst/>
              <a:ahLst/>
              <a:cxnLst/>
              <a:rect l="l" t="t" r="r" b="b"/>
              <a:pathLst>
                <a:path w="17936252" h="457557">
                  <a:moveTo>
                    <a:pt x="0" y="0"/>
                  </a:moveTo>
                  <a:lnTo>
                    <a:pt x="17936252" y="0"/>
                  </a:lnTo>
                  <a:lnTo>
                    <a:pt x="17936252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3813" b="-713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7936248" cy="4575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11"/>
                </a:lnSpc>
              </a:pPr>
              <a:r>
                <a:rPr lang="en-US" sz="1426">
                  <a:solidFill>
                    <a:srgbClr val="5C6670"/>
                  </a:solidFill>
                  <a:latin typeface="Noto Sans"/>
                  <a:ea typeface="Noto Sans"/>
                  <a:cs typeface="Noto Sans"/>
                  <a:sym typeface="Noto Sans"/>
                </a:rPr>
                <a:t>액터별 기능 범위와 시스템 경계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82701" y="1472956"/>
            <a:ext cx="1666275" cy="87697"/>
            <a:chOff x="0" y="0"/>
            <a:chExt cx="2221700" cy="1169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21738" cy="116967"/>
            </a:xfrm>
            <a:custGeom>
              <a:avLst/>
              <a:gdLst/>
              <a:ahLst/>
              <a:cxnLst/>
              <a:rect l="l" t="t" r="r" b="b"/>
              <a:pathLst>
                <a:path w="2221738" h="116967">
                  <a:moveTo>
                    <a:pt x="0" y="0"/>
                  </a:moveTo>
                  <a:lnTo>
                    <a:pt x="2221738" y="0"/>
                  </a:lnTo>
                  <a:lnTo>
                    <a:pt x="2221738" y="116967"/>
                  </a:lnTo>
                  <a:lnTo>
                    <a:pt x="0" y="116967"/>
                  </a:lnTo>
                  <a:close/>
                </a:path>
              </a:pathLst>
            </a:custGeom>
            <a:solidFill>
              <a:srgbClr val="16B3C7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6952500" y="9677343"/>
            <a:ext cx="549069" cy="343167"/>
            <a:chOff x="0" y="0"/>
            <a:chExt cx="732092" cy="45755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32092" cy="457557"/>
            </a:xfrm>
            <a:custGeom>
              <a:avLst/>
              <a:gdLst/>
              <a:ahLst/>
              <a:cxnLst/>
              <a:rect l="l" t="t" r="r" b="b"/>
              <a:pathLst>
                <a:path w="732092" h="457557">
                  <a:moveTo>
                    <a:pt x="0" y="0"/>
                  </a:moveTo>
                  <a:lnTo>
                    <a:pt x="732092" y="0"/>
                  </a:lnTo>
                  <a:lnTo>
                    <a:pt x="732092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r="-30189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732092" cy="4670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1"/>
                </a:lnSpc>
              </a:pPr>
              <a:r>
                <a:rPr lang="en-US" sz="1275">
                  <a:solidFill>
                    <a:srgbClr val="5C6670"/>
                  </a:solidFill>
                  <a:latin typeface="Noto Sans"/>
                  <a:ea typeface="Noto Sans"/>
                  <a:cs typeface="Noto Sans"/>
                  <a:sym typeface="Noto Sans"/>
                </a:rPr>
                <a:t>06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92235" y="9677343"/>
            <a:ext cx="5490686" cy="343167"/>
            <a:chOff x="0" y="0"/>
            <a:chExt cx="7320915" cy="45755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320920" cy="457557"/>
            </a:xfrm>
            <a:custGeom>
              <a:avLst/>
              <a:gdLst/>
              <a:ahLst/>
              <a:cxnLst/>
              <a:rect l="l" t="t" r="r" b="b"/>
              <a:pathLst>
                <a:path w="7320920" h="457557">
                  <a:moveTo>
                    <a:pt x="0" y="0"/>
                  </a:moveTo>
                  <a:lnTo>
                    <a:pt x="7320920" y="0"/>
                  </a:lnTo>
                  <a:lnTo>
                    <a:pt x="7320920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1760" b="-261760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7320915" cy="4670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1"/>
                </a:lnSpc>
              </a:pPr>
              <a:r>
                <a:rPr lang="en-US" sz="1275">
                  <a:solidFill>
                    <a:srgbClr val="7A8793"/>
                  </a:solidFill>
                  <a:latin typeface="Noto Sans"/>
                  <a:ea typeface="Noto Sans"/>
                  <a:cs typeface="Noto Sans"/>
                  <a:sym typeface="Noto Sans"/>
                </a:rPr>
                <a:t>Acrylic Panel Custom Order System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45436" y="1665132"/>
            <a:ext cx="16834304" cy="7500128"/>
            <a:chOff x="0" y="0"/>
            <a:chExt cx="22445739" cy="1000017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445726" cy="10000234"/>
            </a:xfrm>
            <a:custGeom>
              <a:avLst/>
              <a:gdLst/>
              <a:ahLst/>
              <a:cxnLst/>
              <a:rect l="l" t="t" r="r" b="b"/>
              <a:pathLst>
                <a:path w="22445726" h="10000234">
                  <a:moveTo>
                    <a:pt x="0" y="110109"/>
                  </a:moveTo>
                  <a:cubicBezTo>
                    <a:pt x="0" y="49276"/>
                    <a:pt x="49276" y="0"/>
                    <a:pt x="110109" y="0"/>
                  </a:cubicBezTo>
                  <a:lnTo>
                    <a:pt x="22335617" y="0"/>
                  </a:lnTo>
                  <a:cubicBezTo>
                    <a:pt x="22396450" y="0"/>
                    <a:pt x="22445726" y="49276"/>
                    <a:pt x="22445726" y="110109"/>
                  </a:cubicBezTo>
                  <a:lnTo>
                    <a:pt x="22445726" y="9890125"/>
                  </a:lnTo>
                  <a:cubicBezTo>
                    <a:pt x="22445726" y="9950958"/>
                    <a:pt x="22396450" y="10000234"/>
                    <a:pt x="22335617" y="10000234"/>
                  </a:cubicBezTo>
                  <a:lnTo>
                    <a:pt x="110109" y="10000234"/>
                  </a:lnTo>
                  <a:cubicBezTo>
                    <a:pt x="49276" y="10000234"/>
                    <a:pt x="0" y="9950958"/>
                    <a:pt x="0" y="989012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E0EA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5112420" y="1811931"/>
            <a:ext cx="8086611" cy="7110441"/>
            <a:chOff x="0" y="0"/>
            <a:chExt cx="10782148" cy="9480588"/>
          </a:xfrm>
        </p:grpSpPr>
        <p:sp>
          <p:nvSpPr>
            <p:cNvPr id="21" name="Freeform 21" descr="/mnt/data/acrylic_usecase_diagram.drawio.png"/>
            <p:cNvSpPr/>
            <p:nvPr/>
          </p:nvSpPr>
          <p:spPr>
            <a:xfrm>
              <a:off x="0" y="0"/>
              <a:ext cx="10782173" cy="9480550"/>
            </a:xfrm>
            <a:custGeom>
              <a:avLst/>
              <a:gdLst/>
              <a:ahLst/>
              <a:cxnLst/>
              <a:rect l="l" t="t" r="r" b="b"/>
              <a:pathLst>
                <a:path w="10782173" h="9480550">
                  <a:moveTo>
                    <a:pt x="0" y="0"/>
                  </a:moveTo>
                  <a:lnTo>
                    <a:pt x="10782173" y="0"/>
                  </a:lnTo>
                  <a:lnTo>
                    <a:pt x="10782173" y="9480550"/>
                  </a:lnTo>
                  <a:lnTo>
                    <a:pt x="0" y="948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1441304" y="9251813"/>
            <a:ext cx="14824862" cy="384353"/>
            <a:chOff x="0" y="0"/>
            <a:chExt cx="19766483" cy="51247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9766483" cy="512464"/>
            </a:xfrm>
            <a:custGeom>
              <a:avLst/>
              <a:gdLst/>
              <a:ahLst/>
              <a:cxnLst/>
              <a:rect l="l" t="t" r="r" b="b"/>
              <a:pathLst>
                <a:path w="19766483" h="512464">
                  <a:moveTo>
                    <a:pt x="0" y="0"/>
                  </a:moveTo>
                  <a:lnTo>
                    <a:pt x="19766483" y="0"/>
                  </a:lnTo>
                  <a:lnTo>
                    <a:pt x="19766483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01565" b="-701566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51"/>
                </a:lnSpc>
              </a:pPr>
              <a:r>
                <a:rPr lang="en-US" sz="1876" b="1">
                  <a:solidFill>
                    <a:srgbClr val="1232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핵심 포인트: 비회원은 견적만 가능 / 회원은 주문까지 가능 / 관리자는 운영 기능 담당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35" y="-9535"/>
            <a:ext cx="18320909" cy="183785"/>
            <a:chOff x="0" y="0"/>
            <a:chExt cx="24427878" cy="2450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27814" cy="245110"/>
            </a:xfrm>
            <a:custGeom>
              <a:avLst/>
              <a:gdLst/>
              <a:ahLst/>
              <a:cxnLst/>
              <a:rect l="l" t="t" r="r" b="b"/>
              <a:pathLst>
                <a:path w="24427814" h="245110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16B3C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892235" y="480431"/>
            <a:ext cx="14413059" cy="617706"/>
            <a:chOff x="0" y="0"/>
            <a:chExt cx="19217411" cy="82360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217413" cy="823603"/>
            </a:xfrm>
            <a:custGeom>
              <a:avLst/>
              <a:gdLst/>
              <a:ahLst/>
              <a:cxnLst/>
              <a:rect l="l" t="t" r="r" b="b"/>
              <a:pathLst>
                <a:path w="19217413" h="823603">
                  <a:moveTo>
                    <a:pt x="0" y="0"/>
                  </a:moveTo>
                  <a:lnTo>
                    <a:pt x="19217413" y="0"/>
                  </a:lnTo>
                  <a:lnTo>
                    <a:pt x="19217413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4650" b="-40465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19217411" cy="8331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3"/>
                </a:lnSpc>
              </a:pPr>
              <a:r>
                <a:rPr lang="en-US" sz="3752" b="1">
                  <a:solidFill>
                    <a:srgbClr val="1232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06. 시스템 구조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33421" y="1125588"/>
            <a:ext cx="13452186" cy="343167"/>
            <a:chOff x="0" y="0"/>
            <a:chExt cx="17936248" cy="4575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936252" cy="457557"/>
            </a:xfrm>
            <a:custGeom>
              <a:avLst/>
              <a:gdLst/>
              <a:ahLst/>
              <a:cxnLst/>
              <a:rect l="l" t="t" r="r" b="b"/>
              <a:pathLst>
                <a:path w="17936252" h="457557">
                  <a:moveTo>
                    <a:pt x="0" y="0"/>
                  </a:moveTo>
                  <a:lnTo>
                    <a:pt x="17936252" y="0"/>
                  </a:lnTo>
                  <a:lnTo>
                    <a:pt x="17936252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3813" b="-713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7936248" cy="4575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11"/>
                </a:lnSpc>
              </a:pPr>
              <a:r>
                <a:rPr lang="en-US" sz="1426">
                  <a:solidFill>
                    <a:srgbClr val="5C6670"/>
                  </a:solidFill>
                  <a:latin typeface="Noto Sans"/>
                  <a:ea typeface="Noto Sans"/>
                  <a:cs typeface="Noto Sans"/>
                  <a:sym typeface="Noto Sans"/>
                </a:rPr>
                <a:t>Model · DAO · Service · Console UI 계층 분리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82701" y="1472956"/>
            <a:ext cx="1666275" cy="87697"/>
            <a:chOff x="0" y="0"/>
            <a:chExt cx="2221700" cy="1169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21738" cy="116967"/>
            </a:xfrm>
            <a:custGeom>
              <a:avLst/>
              <a:gdLst/>
              <a:ahLst/>
              <a:cxnLst/>
              <a:rect l="l" t="t" r="r" b="b"/>
              <a:pathLst>
                <a:path w="2221738" h="116967">
                  <a:moveTo>
                    <a:pt x="0" y="0"/>
                  </a:moveTo>
                  <a:lnTo>
                    <a:pt x="2221738" y="0"/>
                  </a:lnTo>
                  <a:lnTo>
                    <a:pt x="2221738" y="116967"/>
                  </a:lnTo>
                  <a:lnTo>
                    <a:pt x="0" y="116967"/>
                  </a:lnTo>
                  <a:close/>
                </a:path>
              </a:pathLst>
            </a:custGeom>
            <a:solidFill>
              <a:srgbClr val="16B3C7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6952500" y="9677343"/>
            <a:ext cx="549069" cy="343167"/>
            <a:chOff x="0" y="0"/>
            <a:chExt cx="732092" cy="45755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32092" cy="457557"/>
            </a:xfrm>
            <a:custGeom>
              <a:avLst/>
              <a:gdLst/>
              <a:ahLst/>
              <a:cxnLst/>
              <a:rect l="l" t="t" r="r" b="b"/>
              <a:pathLst>
                <a:path w="732092" h="457557">
                  <a:moveTo>
                    <a:pt x="0" y="0"/>
                  </a:moveTo>
                  <a:lnTo>
                    <a:pt x="732092" y="0"/>
                  </a:lnTo>
                  <a:lnTo>
                    <a:pt x="732092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r="-30189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732092" cy="4670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1"/>
                </a:lnSpc>
              </a:pPr>
              <a:r>
                <a:rPr lang="en-US" sz="1275">
                  <a:solidFill>
                    <a:srgbClr val="5C6670"/>
                  </a:solidFill>
                  <a:latin typeface="Noto Sans"/>
                  <a:ea typeface="Noto Sans"/>
                  <a:cs typeface="Noto Sans"/>
                  <a:sym typeface="Noto Sans"/>
                </a:rPr>
                <a:t>07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92235" y="9677343"/>
            <a:ext cx="5490686" cy="343167"/>
            <a:chOff x="0" y="0"/>
            <a:chExt cx="7320915" cy="45755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320920" cy="457557"/>
            </a:xfrm>
            <a:custGeom>
              <a:avLst/>
              <a:gdLst/>
              <a:ahLst/>
              <a:cxnLst/>
              <a:rect l="l" t="t" r="r" b="b"/>
              <a:pathLst>
                <a:path w="7320920" h="457557">
                  <a:moveTo>
                    <a:pt x="0" y="0"/>
                  </a:moveTo>
                  <a:lnTo>
                    <a:pt x="7320920" y="0"/>
                  </a:lnTo>
                  <a:lnTo>
                    <a:pt x="7320920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1760" b="-261760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7320915" cy="4670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1"/>
                </a:lnSpc>
              </a:pPr>
              <a:r>
                <a:rPr lang="en-US" sz="1275">
                  <a:solidFill>
                    <a:srgbClr val="7A8793"/>
                  </a:solidFill>
                  <a:latin typeface="Noto Sans"/>
                  <a:ea typeface="Noto Sans"/>
                  <a:cs typeface="Noto Sans"/>
                  <a:sym typeface="Noto Sans"/>
                </a:rPr>
                <a:t>Acrylic Panel Custom Order System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63142" y="1706308"/>
            <a:ext cx="15461628" cy="1227020"/>
            <a:chOff x="0" y="0"/>
            <a:chExt cx="20615504" cy="163602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0615402" cy="1636014"/>
            </a:xfrm>
            <a:custGeom>
              <a:avLst/>
              <a:gdLst/>
              <a:ahLst/>
              <a:cxnLst/>
              <a:rect l="l" t="t" r="r" b="b"/>
              <a:pathLst>
                <a:path w="20615402" h="1636014">
                  <a:moveTo>
                    <a:pt x="0" y="111506"/>
                  </a:moveTo>
                  <a:cubicBezTo>
                    <a:pt x="0" y="49911"/>
                    <a:pt x="49911" y="0"/>
                    <a:pt x="111506" y="0"/>
                  </a:cubicBezTo>
                  <a:lnTo>
                    <a:pt x="20503896" y="0"/>
                  </a:lnTo>
                  <a:cubicBezTo>
                    <a:pt x="20565490" y="0"/>
                    <a:pt x="20615402" y="49911"/>
                    <a:pt x="20615402" y="111506"/>
                  </a:cubicBezTo>
                  <a:lnTo>
                    <a:pt x="20615402" y="1524508"/>
                  </a:lnTo>
                  <a:cubicBezTo>
                    <a:pt x="20615402" y="1586103"/>
                    <a:pt x="20565490" y="1636014"/>
                    <a:pt x="20503896" y="1636014"/>
                  </a:cubicBezTo>
                  <a:lnTo>
                    <a:pt x="111506" y="1636014"/>
                  </a:lnTo>
                  <a:cubicBezTo>
                    <a:pt x="49911" y="1636014"/>
                    <a:pt x="0" y="1586103"/>
                    <a:pt x="0" y="152450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F26C63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1853108" y="1990373"/>
            <a:ext cx="1990373" cy="411804"/>
            <a:chOff x="0" y="0"/>
            <a:chExt cx="2653830" cy="54907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653833" cy="549069"/>
            </a:xfrm>
            <a:custGeom>
              <a:avLst/>
              <a:gdLst/>
              <a:ahLst/>
              <a:cxnLst/>
              <a:rect l="l" t="t" r="r" b="b"/>
              <a:pathLst>
                <a:path w="2653833" h="549069">
                  <a:moveTo>
                    <a:pt x="0" y="0"/>
                  </a:moveTo>
                  <a:lnTo>
                    <a:pt x="2653833" y="0"/>
                  </a:lnTo>
                  <a:lnTo>
                    <a:pt x="265383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4177" b="-44177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9525"/>
              <a:ext cx="2653830" cy="5395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82"/>
                </a:lnSpc>
              </a:pPr>
              <a:r>
                <a:rPr lang="en-US" sz="2401" b="1">
                  <a:solidFill>
                    <a:srgbClr val="F26C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Console UI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186647" y="1935470"/>
            <a:ext cx="6039755" cy="439255"/>
            <a:chOff x="0" y="0"/>
            <a:chExt cx="8053006" cy="58567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053012" cy="585674"/>
            </a:xfrm>
            <a:custGeom>
              <a:avLst/>
              <a:gdLst/>
              <a:ahLst/>
              <a:cxnLst/>
              <a:rect l="l" t="t" r="r" b="b"/>
              <a:pathLst>
                <a:path w="8053012" h="585674">
                  <a:moveTo>
                    <a:pt x="0" y="0"/>
                  </a:moveTo>
                  <a:lnTo>
                    <a:pt x="8053012" y="0"/>
                  </a:lnTo>
                  <a:lnTo>
                    <a:pt x="8053012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7919" b="-217919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8053006" cy="5951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1"/>
                </a:lnSpc>
              </a:pPr>
              <a:r>
                <a:rPr lang="en-US" sz="2026" b="1">
                  <a:solidFill>
                    <a:srgbClr val="0B172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ShoppingMallApp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432313" y="1976647"/>
            <a:ext cx="5216157" cy="411804"/>
            <a:chOff x="0" y="0"/>
            <a:chExt cx="6954876" cy="54907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954873" cy="549069"/>
            </a:xfrm>
            <a:custGeom>
              <a:avLst/>
              <a:gdLst/>
              <a:ahLst/>
              <a:cxnLst/>
              <a:rect l="l" t="t" r="r" b="b"/>
              <a:pathLst>
                <a:path w="6954873" h="549069">
                  <a:moveTo>
                    <a:pt x="0" y="0"/>
                  </a:moveTo>
                  <a:lnTo>
                    <a:pt x="6954873" y="0"/>
                  </a:lnTo>
                  <a:lnTo>
                    <a:pt x="695487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6810" b="-196810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6954876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05"/>
                </a:lnSpc>
              </a:pPr>
              <a:r>
                <a:rPr lang="en-US" sz="1921">
                  <a:solidFill>
                    <a:srgbClr val="5C6670"/>
                  </a:solidFill>
                  <a:latin typeface="Noto Sans"/>
                  <a:ea typeface="Noto Sans"/>
                  <a:cs typeface="Noto Sans"/>
                  <a:sym typeface="Noto Sans"/>
                </a:rPr>
                <a:t>메뉴 출력, 입력 처리, 기능 호출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363142" y="3463328"/>
            <a:ext cx="15461628" cy="1227020"/>
            <a:chOff x="0" y="0"/>
            <a:chExt cx="20615504" cy="1636027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0615402" cy="1636014"/>
            </a:xfrm>
            <a:custGeom>
              <a:avLst/>
              <a:gdLst/>
              <a:ahLst/>
              <a:cxnLst/>
              <a:rect l="l" t="t" r="r" b="b"/>
              <a:pathLst>
                <a:path w="20615402" h="1636014">
                  <a:moveTo>
                    <a:pt x="0" y="111506"/>
                  </a:moveTo>
                  <a:cubicBezTo>
                    <a:pt x="0" y="49911"/>
                    <a:pt x="49911" y="0"/>
                    <a:pt x="111506" y="0"/>
                  </a:cubicBezTo>
                  <a:lnTo>
                    <a:pt x="20503896" y="0"/>
                  </a:lnTo>
                  <a:cubicBezTo>
                    <a:pt x="20565490" y="0"/>
                    <a:pt x="20615402" y="49911"/>
                    <a:pt x="20615402" y="111506"/>
                  </a:cubicBezTo>
                  <a:lnTo>
                    <a:pt x="20615402" y="1524508"/>
                  </a:lnTo>
                  <a:cubicBezTo>
                    <a:pt x="20615402" y="1586103"/>
                    <a:pt x="20565490" y="1636014"/>
                    <a:pt x="20503896" y="1636014"/>
                  </a:cubicBezTo>
                  <a:lnTo>
                    <a:pt x="111506" y="1636014"/>
                  </a:lnTo>
                  <a:cubicBezTo>
                    <a:pt x="49911" y="1636014"/>
                    <a:pt x="0" y="1586103"/>
                    <a:pt x="0" y="152450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2D6CDF"/>
              </a:solidFill>
              <a:prstDash val="solid"/>
              <a:miter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1853108" y="3747392"/>
            <a:ext cx="1990373" cy="411804"/>
            <a:chOff x="0" y="0"/>
            <a:chExt cx="2653830" cy="54907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653833" cy="549069"/>
            </a:xfrm>
            <a:custGeom>
              <a:avLst/>
              <a:gdLst/>
              <a:ahLst/>
              <a:cxnLst/>
              <a:rect l="l" t="t" r="r" b="b"/>
              <a:pathLst>
                <a:path w="2653833" h="549069">
                  <a:moveTo>
                    <a:pt x="0" y="0"/>
                  </a:moveTo>
                  <a:lnTo>
                    <a:pt x="2653833" y="0"/>
                  </a:lnTo>
                  <a:lnTo>
                    <a:pt x="265383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4177" b="-44177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9525"/>
              <a:ext cx="2653830" cy="5395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82"/>
                </a:lnSpc>
              </a:pPr>
              <a:r>
                <a:rPr lang="en-US" sz="2401" b="1">
                  <a:solidFill>
                    <a:srgbClr val="2D6CD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Service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186647" y="3692490"/>
            <a:ext cx="6039755" cy="782974"/>
            <a:chOff x="0" y="0"/>
            <a:chExt cx="8053006" cy="1043965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053012" cy="1043966"/>
            </a:xfrm>
            <a:custGeom>
              <a:avLst/>
              <a:gdLst/>
              <a:ahLst/>
              <a:cxnLst/>
              <a:rect l="l" t="t" r="r" b="b"/>
              <a:pathLst>
                <a:path w="8053012" h="1043966">
                  <a:moveTo>
                    <a:pt x="0" y="0"/>
                  </a:moveTo>
                  <a:lnTo>
                    <a:pt x="8053012" y="0"/>
                  </a:lnTo>
                  <a:lnTo>
                    <a:pt x="8053012" y="1043966"/>
                  </a:lnTo>
                  <a:lnTo>
                    <a:pt x="0" y="10439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2254" b="-78355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9525"/>
              <a:ext cx="8053006" cy="10534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1"/>
                </a:lnSpc>
              </a:pPr>
              <a:r>
                <a:rPr lang="en-US" sz="2026" b="1">
                  <a:solidFill>
                    <a:srgbClr val="0B172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MemberService · ProductService · CartService · OrderService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0432313" y="3733667"/>
            <a:ext cx="5216157" cy="411804"/>
            <a:chOff x="0" y="0"/>
            <a:chExt cx="6954876" cy="54907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954873" cy="549069"/>
            </a:xfrm>
            <a:custGeom>
              <a:avLst/>
              <a:gdLst/>
              <a:ahLst/>
              <a:cxnLst/>
              <a:rect l="l" t="t" r="r" b="b"/>
              <a:pathLst>
                <a:path w="6954873" h="549069">
                  <a:moveTo>
                    <a:pt x="0" y="0"/>
                  </a:moveTo>
                  <a:lnTo>
                    <a:pt x="6954873" y="0"/>
                  </a:lnTo>
                  <a:lnTo>
                    <a:pt x="695487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6810" b="-196810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9525"/>
              <a:ext cx="6954876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05"/>
                </a:lnSpc>
              </a:pPr>
              <a:r>
                <a:rPr lang="en-US" sz="1921">
                  <a:solidFill>
                    <a:srgbClr val="5C6670"/>
                  </a:solidFill>
                  <a:latin typeface="Noto Sans"/>
                  <a:ea typeface="Noto Sans"/>
                  <a:cs typeface="Noto Sans"/>
                  <a:sym typeface="Noto Sans"/>
                </a:rPr>
                <a:t>업무 로직 처리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363142" y="5220348"/>
            <a:ext cx="15461628" cy="1227020"/>
            <a:chOff x="0" y="0"/>
            <a:chExt cx="20615504" cy="1636027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0615402" cy="1636014"/>
            </a:xfrm>
            <a:custGeom>
              <a:avLst/>
              <a:gdLst/>
              <a:ahLst/>
              <a:cxnLst/>
              <a:rect l="l" t="t" r="r" b="b"/>
              <a:pathLst>
                <a:path w="20615402" h="1636014">
                  <a:moveTo>
                    <a:pt x="0" y="111506"/>
                  </a:moveTo>
                  <a:cubicBezTo>
                    <a:pt x="0" y="49911"/>
                    <a:pt x="49911" y="0"/>
                    <a:pt x="111506" y="0"/>
                  </a:cubicBezTo>
                  <a:lnTo>
                    <a:pt x="20503896" y="0"/>
                  </a:lnTo>
                  <a:cubicBezTo>
                    <a:pt x="20565490" y="0"/>
                    <a:pt x="20615402" y="49911"/>
                    <a:pt x="20615402" y="111506"/>
                  </a:cubicBezTo>
                  <a:lnTo>
                    <a:pt x="20615402" y="1524508"/>
                  </a:lnTo>
                  <a:cubicBezTo>
                    <a:pt x="20615402" y="1586103"/>
                    <a:pt x="20565490" y="1636014"/>
                    <a:pt x="20503896" y="1636014"/>
                  </a:cubicBezTo>
                  <a:lnTo>
                    <a:pt x="111506" y="1636014"/>
                  </a:lnTo>
                  <a:cubicBezTo>
                    <a:pt x="49911" y="1636014"/>
                    <a:pt x="0" y="1586103"/>
                    <a:pt x="0" y="152450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F3B03E"/>
              </a:solidFill>
              <a:prstDash val="solid"/>
              <a:miter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1853108" y="5504412"/>
            <a:ext cx="1990373" cy="411804"/>
            <a:chOff x="0" y="0"/>
            <a:chExt cx="2653830" cy="54907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653833" cy="549069"/>
            </a:xfrm>
            <a:custGeom>
              <a:avLst/>
              <a:gdLst/>
              <a:ahLst/>
              <a:cxnLst/>
              <a:rect l="l" t="t" r="r" b="b"/>
              <a:pathLst>
                <a:path w="2653833" h="549069">
                  <a:moveTo>
                    <a:pt x="0" y="0"/>
                  </a:moveTo>
                  <a:lnTo>
                    <a:pt x="2653833" y="0"/>
                  </a:lnTo>
                  <a:lnTo>
                    <a:pt x="265383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4177" b="-44177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9525"/>
              <a:ext cx="2653830" cy="5395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82"/>
                </a:lnSpc>
              </a:pPr>
              <a:r>
                <a:rPr lang="en-US" sz="2401" b="1">
                  <a:solidFill>
                    <a:srgbClr val="F3B03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DAO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186647" y="5449510"/>
            <a:ext cx="6039755" cy="763924"/>
            <a:chOff x="0" y="0"/>
            <a:chExt cx="8053006" cy="1018565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053012" cy="1018566"/>
            </a:xfrm>
            <a:custGeom>
              <a:avLst/>
              <a:gdLst/>
              <a:ahLst/>
              <a:cxnLst/>
              <a:rect l="l" t="t" r="r" b="b"/>
              <a:pathLst>
                <a:path w="8053012" h="1018566">
                  <a:moveTo>
                    <a:pt x="0" y="0"/>
                  </a:moveTo>
                  <a:lnTo>
                    <a:pt x="8053012" y="0"/>
                  </a:lnTo>
                  <a:lnTo>
                    <a:pt x="8053012" y="1018566"/>
                  </a:lnTo>
                  <a:lnTo>
                    <a:pt x="0" y="10185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5303" b="-82802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9525"/>
              <a:ext cx="8053006" cy="10280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1"/>
                </a:lnSpc>
              </a:pPr>
              <a:r>
                <a:rPr lang="en-US" sz="2026" b="1">
                  <a:solidFill>
                    <a:srgbClr val="0B172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MemberDAO · ProductDAO · CartDAO · OrderDAO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0432313" y="5490686"/>
            <a:ext cx="5216157" cy="411804"/>
            <a:chOff x="0" y="0"/>
            <a:chExt cx="6954876" cy="549072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6954873" cy="549069"/>
            </a:xfrm>
            <a:custGeom>
              <a:avLst/>
              <a:gdLst/>
              <a:ahLst/>
              <a:cxnLst/>
              <a:rect l="l" t="t" r="r" b="b"/>
              <a:pathLst>
                <a:path w="6954873" h="549069">
                  <a:moveTo>
                    <a:pt x="0" y="0"/>
                  </a:moveTo>
                  <a:lnTo>
                    <a:pt x="6954873" y="0"/>
                  </a:lnTo>
                  <a:lnTo>
                    <a:pt x="695487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6810" b="-196810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9525"/>
              <a:ext cx="6954876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05"/>
                </a:lnSpc>
              </a:pPr>
              <a:r>
                <a:rPr lang="en-US" sz="1921">
                  <a:solidFill>
                    <a:srgbClr val="5C6670"/>
                  </a:solidFill>
                  <a:latin typeface="Noto Sans"/>
                  <a:ea typeface="Noto Sans"/>
                  <a:cs typeface="Noto Sans"/>
                  <a:sym typeface="Noto Sans"/>
                </a:rPr>
                <a:t>데이터 저장·조회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363142" y="6977367"/>
            <a:ext cx="15461628" cy="1227020"/>
            <a:chOff x="0" y="0"/>
            <a:chExt cx="20615504" cy="1636027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0615402" cy="1636014"/>
            </a:xfrm>
            <a:custGeom>
              <a:avLst/>
              <a:gdLst/>
              <a:ahLst/>
              <a:cxnLst/>
              <a:rect l="l" t="t" r="r" b="b"/>
              <a:pathLst>
                <a:path w="20615402" h="1636014">
                  <a:moveTo>
                    <a:pt x="0" y="111506"/>
                  </a:moveTo>
                  <a:cubicBezTo>
                    <a:pt x="0" y="49911"/>
                    <a:pt x="49911" y="0"/>
                    <a:pt x="111506" y="0"/>
                  </a:cubicBezTo>
                  <a:lnTo>
                    <a:pt x="20503896" y="0"/>
                  </a:lnTo>
                  <a:cubicBezTo>
                    <a:pt x="20565490" y="0"/>
                    <a:pt x="20615402" y="49911"/>
                    <a:pt x="20615402" y="111506"/>
                  </a:cubicBezTo>
                  <a:lnTo>
                    <a:pt x="20615402" y="1524508"/>
                  </a:lnTo>
                  <a:cubicBezTo>
                    <a:pt x="20615402" y="1586103"/>
                    <a:pt x="20565490" y="1636014"/>
                    <a:pt x="20503896" y="1636014"/>
                  </a:cubicBezTo>
                  <a:lnTo>
                    <a:pt x="111506" y="1636014"/>
                  </a:lnTo>
                  <a:cubicBezTo>
                    <a:pt x="49911" y="1636014"/>
                    <a:pt x="0" y="1586103"/>
                    <a:pt x="0" y="152450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4CA66A"/>
              </a:solidFill>
              <a:prstDash val="solid"/>
              <a:miter/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1853108" y="7261441"/>
            <a:ext cx="1990373" cy="411804"/>
            <a:chOff x="0" y="0"/>
            <a:chExt cx="2653830" cy="549072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653833" cy="549069"/>
            </a:xfrm>
            <a:custGeom>
              <a:avLst/>
              <a:gdLst/>
              <a:ahLst/>
              <a:cxnLst/>
              <a:rect l="l" t="t" r="r" b="b"/>
              <a:pathLst>
                <a:path w="2653833" h="549069">
                  <a:moveTo>
                    <a:pt x="0" y="0"/>
                  </a:moveTo>
                  <a:lnTo>
                    <a:pt x="2653833" y="0"/>
                  </a:lnTo>
                  <a:lnTo>
                    <a:pt x="265383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4177" b="-44177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9525"/>
              <a:ext cx="2653830" cy="5395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82"/>
                </a:lnSpc>
              </a:pPr>
              <a:r>
                <a:rPr lang="en-US" sz="2401" b="1">
                  <a:solidFill>
                    <a:srgbClr val="4CA66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Model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4186647" y="7206529"/>
            <a:ext cx="6039755" cy="439255"/>
            <a:chOff x="0" y="0"/>
            <a:chExt cx="8053006" cy="585673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8053012" cy="585674"/>
            </a:xfrm>
            <a:custGeom>
              <a:avLst/>
              <a:gdLst/>
              <a:ahLst/>
              <a:cxnLst/>
              <a:rect l="l" t="t" r="r" b="b"/>
              <a:pathLst>
                <a:path w="8053012" h="585674">
                  <a:moveTo>
                    <a:pt x="0" y="0"/>
                  </a:moveTo>
                  <a:lnTo>
                    <a:pt x="8053012" y="0"/>
                  </a:lnTo>
                  <a:lnTo>
                    <a:pt x="8053012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7919" b="-217919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9525"/>
              <a:ext cx="8053006" cy="5951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1"/>
                </a:lnSpc>
              </a:pPr>
              <a:r>
                <a:rPr lang="en-US" sz="2026" b="1">
                  <a:solidFill>
                    <a:srgbClr val="0B172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Member · Product · Cart · CartItem · Order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0432313" y="7247706"/>
            <a:ext cx="5216157" cy="411804"/>
            <a:chOff x="0" y="0"/>
            <a:chExt cx="6954876" cy="549072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6954873" cy="549069"/>
            </a:xfrm>
            <a:custGeom>
              <a:avLst/>
              <a:gdLst/>
              <a:ahLst/>
              <a:cxnLst/>
              <a:rect l="l" t="t" r="r" b="b"/>
              <a:pathLst>
                <a:path w="6954873" h="549069">
                  <a:moveTo>
                    <a:pt x="0" y="0"/>
                  </a:moveTo>
                  <a:lnTo>
                    <a:pt x="6954873" y="0"/>
                  </a:lnTo>
                  <a:lnTo>
                    <a:pt x="695487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6810" b="-196810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9525"/>
              <a:ext cx="6954876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05"/>
                </a:lnSpc>
              </a:pPr>
              <a:r>
                <a:rPr lang="en-US" sz="1921">
                  <a:solidFill>
                    <a:srgbClr val="5C6670"/>
                  </a:solidFill>
                  <a:latin typeface="Noto Sans"/>
                  <a:ea typeface="Noto Sans"/>
                  <a:cs typeface="Noto Sans"/>
                  <a:sym typeface="Noto Sans"/>
                </a:rPr>
                <a:t>데이터 구조 정의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8304667" y="2937520"/>
            <a:ext cx="1647206" cy="301990"/>
            <a:chOff x="0" y="0"/>
            <a:chExt cx="2196274" cy="402654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2196276" cy="402651"/>
            </a:xfrm>
            <a:custGeom>
              <a:avLst/>
              <a:gdLst/>
              <a:ahLst/>
              <a:cxnLst/>
              <a:rect l="l" t="t" r="r" b="b"/>
              <a:pathLst>
                <a:path w="2196276" h="402651">
                  <a:moveTo>
                    <a:pt x="0" y="0"/>
                  </a:moveTo>
                  <a:lnTo>
                    <a:pt x="2196276" y="0"/>
                  </a:lnTo>
                  <a:lnTo>
                    <a:pt x="2196276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281" b="-56282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0"/>
              <a:ext cx="2196274" cy="4026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91"/>
                </a:lnSpc>
              </a:pPr>
              <a:r>
                <a:rPr lang="en-US" sz="1576">
                  <a:solidFill>
                    <a:srgbClr val="5C6670"/>
                  </a:solidFill>
                  <a:latin typeface="Noto Sans"/>
                  <a:ea typeface="Noto Sans"/>
                  <a:cs typeface="Noto Sans"/>
                  <a:sym typeface="Noto Sans"/>
                </a:rPr>
                <a:t>↓ 호출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8304667" y="4694539"/>
            <a:ext cx="1647206" cy="301990"/>
            <a:chOff x="0" y="0"/>
            <a:chExt cx="2196274" cy="402654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2196276" cy="402651"/>
            </a:xfrm>
            <a:custGeom>
              <a:avLst/>
              <a:gdLst/>
              <a:ahLst/>
              <a:cxnLst/>
              <a:rect l="l" t="t" r="r" b="b"/>
              <a:pathLst>
                <a:path w="2196276" h="402651">
                  <a:moveTo>
                    <a:pt x="0" y="0"/>
                  </a:moveTo>
                  <a:lnTo>
                    <a:pt x="2196276" y="0"/>
                  </a:lnTo>
                  <a:lnTo>
                    <a:pt x="2196276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281" b="-56282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0"/>
              <a:ext cx="2196274" cy="4026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91"/>
                </a:lnSpc>
              </a:pPr>
              <a:r>
                <a:rPr lang="en-US" sz="1576">
                  <a:solidFill>
                    <a:srgbClr val="5C6670"/>
                  </a:solidFill>
                  <a:latin typeface="Noto Sans"/>
                  <a:ea typeface="Noto Sans"/>
                  <a:cs typeface="Noto Sans"/>
                  <a:sym typeface="Noto Sans"/>
                </a:rPr>
                <a:t>↓ 사용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8304667" y="6451559"/>
            <a:ext cx="1647206" cy="301990"/>
            <a:chOff x="0" y="0"/>
            <a:chExt cx="2196274" cy="402654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2196276" cy="402651"/>
            </a:xfrm>
            <a:custGeom>
              <a:avLst/>
              <a:gdLst/>
              <a:ahLst/>
              <a:cxnLst/>
              <a:rect l="l" t="t" r="r" b="b"/>
              <a:pathLst>
                <a:path w="2196276" h="402651">
                  <a:moveTo>
                    <a:pt x="0" y="0"/>
                  </a:moveTo>
                  <a:lnTo>
                    <a:pt x="2196276" y="0"/>
                  </a:lnTo>
                  <a:lnTo>
                    <a:pt x="2196276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281" b="-56282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0"/>
              <a:ext cx="2196274" cy="4026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91"/>
                </a:lnSpc>
              </a:pPr>
              <a:r>
                <a:rPr lang="en-US" sz="1576">
                  <a:solidFill>
                    <a:srgbClr val="5C6670"/>
                  </a:solidFill>
                  <a:latin typeface="Noto Sans"/>
                  <a:ea typeface="Noto Sans"/>
                  <a:cs typeface="Noto Sans"/>
                  <a:sym typeface="Noto Sans"/>
                </a:rPr>
                <a:t>↓ 저장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363142" y="8844201"/>
            <a:ext cx="15461628" cy="595589"/>
            <a:chOff x="0" y="0"/>
            <a:chExt cx="20615504" cy="794118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20615402" cy="794131"/>
            </a:xfrm>
            <a:custGeom>
              <a:avLst/>
              <a:gdLst/>
              <a:ahLst/>
              <a:cxnLst/>
              <a:rect l="l" t="t" r="r" b="b"/>
              <a:pathLst>
                <a:path w="20615402" h="794131">
                  <a:moveTo>
                    <a:pt x="0" y="113411"/>
                  </a:moveTo>
                  <a:cubicBezTo>
                    <a:pt x="0" y="50800"/>
                    <a:pt x="50800" y="0"/>
                    <a:pt x="113411" y="0"/>
                  </a:cubicBezTo>
                  <a:lnTo>
                    <a:pt x="20501992" y="0"/>
                  </a:lnTo>
                  <a:cubicBezTo>
                    <a:pt x="20564602" y="0"/>
                    <a:pt x="20615402" y="50800"/>
                    <a:pt x="20615402" y="113411"/>
                  </a:cubicBezTo>
                  <a:lnTo>
                    <a:pt x="20615402" y="680720"/>
                  </a:lnTo>
                  <a:cubicBezTo>
                    <a:pt x="20615402" y="743331"/>
                    <a:pt x="20564602" y="794131"/>
                    <a:pt x="20501992" y="794131"/>
                  </a:cubicBezTo>
                  <a:lnTo>
                    <a:pt x="113411" y="794131"/>
                  </a:lnTo>
                  <a:cubicBezTo>
                    <a:pt x="50800" y="794131"/>
                    <a:pt x="0" y="743331"/>
                    <a:pt x="0" y="680720"/>
                  </a:cubicBezTo>
                  <a:close/>
                </a:path>
              </a:pathLst>
            </a:custGeom>
            <a:solidFill>
              <a:srgbClr val="D8ECFF"/>
            </a:solidFill>
            <a:ln w="19065" cap="sq">
              <a:solidFill>
                <a:srgbClr val="2D6CDF"/>
              </a:solidFill>
              <a:prstDash val="solid"/>
              <a:miter/>
            </a:ln>
          </p:spPr>
        </p:sp>
      </p:grpSp>
      <p:grpSp>
        <p:nvGrpSpPr>
          <p:cNvPr id="73" name="Group 73"/>
          <p:cNvGrpSpPr/>
          <p:nvPr/>
        </p:nvGrpSpPr>
        <p:grpSpPr>
          <a:xfrm>
            <a:off x="1715843" y="8991000"/>
            <a:ext cx="14756225" cy="301990"/>
            <a:chOff x="0" y="0"/>
            <a:chExt cx="19674967" cy="402654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19674971" cy="402651"/>
            </a:xfrm>
            <a:custGeom>
              <a:avLst/>
              <a:gdLst/>
              <a:ahLst/>
              <a:cxnLst/>
              <a:rect l="l" t="t" r="r" b="b"/>
              <a:pathLst>
                <a:path w="19674971" h="402651">
                  <a:moveTo>
                    <a:pt x="0" y="0"/>
                  </a:moveTo>
                  <a:lnTo>
                    <a:pt x="19674971" y="0"/>
                  </a:lnTo>
                  <a:lnTo>
                    <a:pt x="19674971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02109" b="-902109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-9525"/>
              <a:ext cx="19674967" cy="4121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05"/>
                </a:lnSpc>
              </a:pPr>
              <a:r>
                <a:rPr lang="en-US" sz="1921" b="1">
                  <a:solidFill>
                    <a:srgbClr val="1232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장점: 역할 분리로 코드 수정 범위가 줄고, 기능 설명·다이어그램 작성이 쉬워짐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35" y="-9535"/>
            <a:ext cx="18320909" cy="183785"/>
            <a:chOff x="0" y="0"/>
            <a:chExt cx="24427878" cy="2450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27814" cy="245110"/>
            </a:xfrm>
            <a:custGeom>
              <a:avLst/>
              <a:gdLst/>
              <a:ahLst/>
              <a:cxnLst/>
              <a:rect l="l" t="t" r="r" b="b"/>
              <a:pathLst>
                <a:path w="24427814" h="245110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16B3C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892235" y="480431"/>
            <a:ext cx="14413059" cy="617706"/>
            <a:chOff x="0" y="0"/>
            <a:chExt cx="19217411" cy="82360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217413" cy="823603"/>
            </a:xfrm>
            <a:custGeom>
              <a:avLst/>
              <a:gdLst/>
              <a:ahLst/>
              <a:cxnLst/>
              <a:rect l="l" t="t" r="r" b="b"/>
              <a:pathLst>
                <a:path w="19217413" h="823603">
                  <a:moveTo>
                    <a:pt x="0" y="0"/>
                  </a:moveTo>
                  <a:lnTo>
                    <a:pt x="19217413" y="0"/>
                  </a:lnTo>
                  <a:lnTo>
                    <a:pt x="19217413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4650" b="-40465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19217411" cy="8331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3"/>
                </a:lnSpc>
              </a:pPr>
              <a:r>
                <a:rPr lang="en-US" sz="3752" b="1">
                  <a:solidFill>
                    <a:srgbClr val="1232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07. 클래스 다이어그램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33421" y="1125588"/>
            <a:ext cx="13452186" cy="343167"/>
            <a:chOff x="0" y="0"/>
            <a:chExt cx="17936248" cy="4575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936252" cy="457557"/>
            </a:xfrm>
            <a:custGeom>
              <a:avLst/>
              <a:gdLst/>
              <a:ahLst/>
              <a:cxnLst/>
              <a:rect l="l" t="t" r="r" b="b"/>
              <a:pathLst>
                <a:path w="17936252" h="457557">
                  <a:moveTo>
                    <a:pt x="0" y="0"/>
                  </a:moveTo>
                  <a:lnTo>
                    <a:pt x="17936252" y="0"/>
                  </a:lnTo>
                  <a:lnTo>
                    <a:pt x="17936252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3813" b="-713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7936248" cy="4575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11"/>
                </a:lnSpc>
              </a:pPr>
              <a:r>
                <a:rPr lang="en-US" sz="1426">
                  <a:solidFill>
                    <a:srgbClr val="5C6670"/>
                  </a:solidFill>
                  <a:latin typeface="Noto Sans"/>
                  <a:ea typeface="Noto Sans"/>
                  <a:cs typeface="Noto Sans"/>
                  <a:sym typeface="Noto Sans"/>
                </a:rPr>
                <a:t>Member / Product / Cart / Order 중심의 객체 구조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82701" y="1472956"/>
            <a:ext cx="1666275" cy="87697"/>
            <a:chOff x="0" y="0"/>
            <a:chExt cx="2221700" cy="1169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21738" cy="116967"/>
            </a:xfrm>
            <a:custGeom>
              <a:avLst/>
              <a:gdLst/>
              <a:ahLst/>
              <a:cxnLst/>
              <a:rect l="l" t="t" r="r" b="b"/>
              <a:pathLst>
                <a:path w="2221738" h="116967">
                  <a:moveTo>
                    <a:pt x="0" y="0"/>
                  </a:moveTo>
                  <a:lnTo>
                    <a:pt x="2221738" y="0"/>
                  </a:lnTo>
                  <a:lnTo>
                    <a:pt x="2221738" y="116967"/>
                  </a:lnTo>
                  <a:lnTo>
                    <a:pt x="0" y="116967"/>
                  </a:lnTo>
                  <a:close/>
                </a:path>
              </a:pathLst>
            </a:custGeom>
            <a:solidFill>
              <a:srgbClr val="16B3C7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6952500" y="9677343"/>
            <a:ext cx="549069" cy="343167"/>
            <a:chOff x="0" y="0"/>
            <a:chExt cx="732092" cy="45755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32092" cy="457557"/>
            </a:xfrm>
            <a:custGeom>
              <a:avLst/>
              <a:gdLst/>
              <a:ahLst/>
              <a:cxnLst/>
              <a:rect l="l" t="t" r="r" b="b"/>
              <a:pathLst>
                <a:path w="732092" h="457557">
                  <a:moveTo>
                    <a:pt x="0" y="0"/>
                  </a:moveTo>
                  <a:lnTo>
                    <a:pt x="732092" y="0"/>
                  </a:lnTo>
                  <a:lnTo>
                    <a:pt x="732092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r="-30189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732092" cy="4670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1"/>
                </a:lnSpc>
              </a:pPr>
              <a:r>
                <a:rPr lang="en-US" sz="1275">
                  <a:solidFill>
                    <a:srgbClr val="5C6670"/>
                  </a:solidFill>
                  <a:latin typeface="Noto Sans"/>
                  <a:ea typeface="Noto Sans"/>
                  <a:cs typeface="Noto Sans"/>
                  <a:sym typeface="Noto Sans"/>
                </a:rPr>
                <a:t>08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92235" y="9677343"/>
            <a:ext cx="5490686" cy="343167"/>
            <a:chOff x="0" y="0"/>
            <a:chExt cx="7320915" cy="45755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320920" cy="457557"/>
            </a:xfrm>
            <a:custGeom>
              <a:avLst/>
              <a:gdLst/>
              <a:ahLst/>
              <a:cxnLst/>
              <a:rect l="l" t="t" r="r" b="b"/>
              <a:pathLst>
                <a:path w="7320920" h="457557">
                  <a:moveTo>
                    <a:pt x="0" y="0"/>
                  </a:moveTo>
                  <a:lnTo>
                    <a:pt x="7320920" y="0"/>
                  </a:lnTo>
                  <a:lnTo>
                    <a:pt x="7320920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1760" b="-261760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7320915" cy="4670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1"/>
                </a:lnSpc>
              </a:pPr>
              <a:r>
                <a:rPr lang="en-US" sz="1275">
                  <a:solidFill>
                    <a:srgbClr val="7A8793"/>
                  </a:solidFill>
                  <a:latin typeface="Noto Sans"/>
                  <a:ea typeface="Noto Sans"/>
                  <a:cs typeface="Noto Sans"/>
                  <a:sym typeface="Noto Sans"/>
                </a:rPr>
                <a:t>Acrylic Panel Custom Order System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39534" y="1706308"/>
            <a:ext cx="17246108" cy="7774667"/>
            <a:chOff x="0" y="0"/>
            <a:chExt cx="22994810" cy="1036622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994874" cy="10366249"/>
            </a:xfrm>
            <a:custGeom>
              <a:avLst/>
              <a:gdLst/>
              <a:ahLst/>
              <a:cxnLst/>
              <a:rect l="l" t="t" r="r" b="b"/>
              <a:pathLst>
                <a:path w="22994874" h="10366249">
                  <a:moveTo>
                    <a:pt x="0" y="110109"/>
                  </a:moveTo>
                  <a:cubicBezTo>
                    <a:pt x="0" y="49276"/>
                    <a:pt x="49276" y="0"/>
                    <a:pt x="110109" y="0"/>
                  </a:cubicBezTo>
                  <a:lnTo>
                    <a:pt x="22884764" y="0"/>
                  </a:lnTo>
                  <a:cubicBezTo>
                    <a:pt x="22945598" y="0"/>
                    <a:pt x="22994874" y="49276"/>
                    <a:pt x="22994874" y="110109"/>
                  </a:cubicBezTo>
                  <a:lnTo>
                    <a:pt x="22994874" y="10256139"/>
                  </a:lnTo>
                  <a:cubicBezTo>
                    <a:pt x="22994874" y="10316973"/>
                    <a:pt x="22945598" y="10366249"/>
                    <a:pt x="22884764" y="10366249"/>
                  </a:cubicBezTo>
                  <a:lnTo>
                    <a:pt x="110109" y="10366249"/>
                  </a:lnTo>
                  <a:cubicBezTo>
                    <a:pt x="49276" y="10366249"/>
                    <a:pt x="0" y="10316973"/>
                    <a:pt x="0" y="1025613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E0EA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3810819" y="1839382"/>
            <a:ext cx="10703547" cy="7343794"/>
            <a:chOff x="0" y="0"/>
            <a:chExt cx="14271396" cy="9791725"/>
          </a:xfrm>
        </p:grpSpPr>
        <p:sp>
          <p:nvSpPr>
            <p:cNvPr id="21" name="Freeform 21" descr="/mnt/data/acrylic_class_diagram.drawio.png"/>
            <p:cNvSpPr/>
            <p:nvPr/>
          </p:nvSpPr>
          <p:spPr>
            <a:xfrm>
              <a:off x="0" y="0"/>
              <a:ext cx="14271371" cy="9791700"/>
            </a:xfrm>
            <a:custGeom>
              <a:avLst/>
              <a:gdLst/>
              <a:ahLst/>
              <a:cxnLst/>
              <a:rect l="l" t="t" r="r" b="b"/>
              <a:pathLst>
                <a:path w="14271371" h="9791700">
                  <a:moveTo>
                    <a:pt x="0" y="0"/>
                  </a:moveTo>
                  <a:lnTo>
                    <a:pt x="14271371" y="0"/>
                  </a:lnTo>
                  <a:lnTo>
                    <a:pt x="14271371" y="9791700"/>
                  </a:lnTo>
                  <a:lnTo>
                    <a:pt x="0" y="9791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35" y="-9535"/>
            <a:ext cx="18320909" cy="183785"/>
            <a:chOff x="0" y="0"/>
            <a:chExt cx="24427878" cy="2450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27814" cy="245110"/>
            </a:xfrm>
            <a:custGeom>
              <a:avLst/>
              <a:gdLst/>
              <a:ahLst/>
              <a:cxnLst/>
              <a:rect l="l" t="t" r="r" b="b"/>
              <a:pathLst>
                <a:path w="24427814" h="245110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16B3C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892235" y="480431"/>
            <a:ext cx="14413059" cy="617706"/>
            <a:chOff x="0" y="0"/>
            <a:chExt cx="19217411" cy="82360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217413" cy="823603"/>
            </a:xfrm>
            <a:custGeom>
              <a:avLst/>
              <a:gdLst/>
              <a:ahLst/>
              <a:cxnLst/>
              <a:rect l="l" t="t" r="r" b="b"/>
              <a:pathLst>
                <a:path w="19217413" h="823603">
                  <a:moveTo>
                    <a:pt x="0" y="0"/>
                  </a:moveTo>
                  <a:lnTo>
                    <a:pt x="19217413" y="0"/>
                  </a:lnTo>
                  <a:lnTo>
                    <a:pt x="19217413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4650" b="-40465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19217411" cy="8331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3"/>
                </a:lnSpc>
              </a:pPr>
              <a:r>
                <a:rPr lang="en-US" sz="3752" b="1">
                  <a:solidFill>
                    <a:srgbClr val="1232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08. 핵심 업무 흐름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33421" y="1125588"/>
            <a:ext cx="13452186" cy="343167"/>
            <a:chOff x="0" y="0"/>
            <a:chExt cx="17936248" cy="4575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936252" cy="457557"/>
            </a:xfrm>
            <a:custGeom>
              <a:avLst/>
              <a:gdLst/>
              <a:ahLst/>
              <a:cxnLst/>
              <a:rect l="l" t="t" r="r" b="b"/>
              <a:pathLst>
                <a:path w="17936252" h="457557">
                  <a:moveTo>
                    <a:pt x="0" y="0"/>
                  </a:moveTo>
                  <a:lnTo>
                    <a:pt x="17936252" y="0"/>
                  </a:lnTo>
                  <a:lnTo>
                    <a:pt x="17936252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3813" b="-713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7936248" cy="4575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11"/>
                </a:lnSpc>
              </a:pPr>
              <a:r>
                <a:rPr lang="en-US" sz="1426">
                  <a:solidFill>
                    <a:srgbClr val="5C6670"/>
                  </a:solidFill>
                  <a:latin typeface="Noto Sans"/>
                  <a:ea typeface="Noto Sans"/>
                  <a:cs typeface="Noto Sans"/>
                  <a:sym typeface="Noto Sans"/>
                </a:rPr>
                <a:t>견적 계산부터 주문 상태 변경까지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82701" y="1472956"/>
            <a:ext cx="1666275" cy="87697"/>
            <a:chOff x="0" y="0"/>
            <a:chExt cx="2221700" cy="1169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21738" cy="116967"/>
            </a:xfrm>
            <a:custGeom>
              <a:avLst/>
              <a:gdLst/>
              <a:ahLst/>
              <a:cxnLst/>
              <a:rect l="l" t="t" r="r" b="b"/>
              <a:pathLst>
                <a:path w="2221738" h="116967">
                  <a:moveTo>
                    <a:pt x="0" y="0"/>
                  </a:moveTo>
                  <a:lnTo>
                    <a:pt x="2221738" y="0"/>
                  </a:lnTo>
                  <a:lnTo>
                    <a:pt x="2221738" y="116967"/>
                  </a:lnTo>
                  <a:lnTo>
                    <a:pt x="0" y="116967"/>
                  </a:lnTo>
                  <a:close/>
                </a:path>
              </a:pathLst>
            </a:custGeom>
            <a:solidFill>
              <a:srgbClr val="16B3C7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6952500" y="9677343"/>
            <a:ext cx="549069" cy="343167"/>
            <a:chOff x="0" y="0"/>
            <a:chExt cx="732092" cy="45755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32092" cy="457557"/>
            </a:xfrm>
            <a:custGeom>
              <a:avLst/>
              <a:gdLst/>
              <a:ahLst/>
              <a:cxnLst/>
              <a:rect l="l" t="t" r="r" b="b"/>
              <a:pathLst>
                <a:path w="732092" h="457557">
                  <a:moveTo>
                    <a:pt x="0" y="0"/>
                  </a:moveTo>
                  <a:lnTo>
                    <a:pt x="732092" y="0"/>
                  </a:lnTo>
                  <a:lnTo>
                    <a:pt x="732092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r="-30189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732092" cy="4670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1"/>
                </a:lnSpc>
              </a:pPr>
              <a:r>
                <a:rPr lang="en-US" sz="1275">
                  <a:solidFill>
                    <a:srgbClr val="5C6670"/>
                  </a:solidFill>
                  <a:latin typeface="Noto Sans"/>
                  <a:ea typeface="Noto Sans"/>
                  <a:cs typeface="Noto Sans"/>
                  <a:sym typeface="Noto Sans"/>
                </a:rPr>
                <a:t>09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92235" y="9677343"/>
            <a:ext cx="5490686" cy="343167"/>
            <a:chOff x="0" y="0"/>
            <a:chExt cx="7320915" cy="45755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320920" cy="457557"/>
            </a:xfrm>
            <a:custGeom>
              <a:avLst/>
              <a:gdLst/>
              <a:ahLst/>
              <a:cxnLst/>
              <a:rect l="l" t="t" r="r" b="b"/>
              <a:pathLst>
                <a:path w="7320920" h="457557">
                  <a:moveTo>
                    <a:pt x="0" y="0"/>
                  </a:moveTo>
                  <a:lnTo>
                    <a:pt x="7320920" y="0"/>
                  </a:lnTo>
                  <a:lnTo>
                    <a:pt x="7320920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1760" b="-261760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7320915" cy="4670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1"/>
                </a:lnSpc>
              </a:pPr>
              <a:r>
                <a:rPr lang="en-US" sz="1275">
                  <a:solidFill>
                    <a:srgbClr val="7A8793"/>
                  </a:solidFill>
                  <a:latin typeface="Noto Sans"/>
                  <a:ea typeface="Noto Sans"/>
                  <a:cs typeface="Noto Sans"/>
                  <a:sym typeface="Noto Sans"/>
                </a:rPr>
                <a:t>Acrylic Panel Custom Order System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57240" y="2735809"/>
            <a:ext cx="2695775" cy="3038942"/>
            <a:chOff x="0" y="0"/>
            <a:chExt cx="3594367" cy="405192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594354" cy="4051935"/>
            </a:xfrm>
            <a:custGeom>
              <a:avLst/>
              <a:gdLst/>
              <a:ahLst/>
              <a:cxnLst/>
              <a:rect l="l" t="t" r="r" b="b"/>
              <a:pathLst>
                <a:path w="3594354" h="4051935">
                  <a:moveTo>
                    <a:pt x="0" y="110617"/>
                  </a:moveTo>
                  <a:cubicBezTo>
                    <a:pt x="0" y="49530"/>
                    <a:pt x="49530" y="0"/>
                    <a:pt x="110617" y="0"/>
                  </a:cubicBezTo>
                  <a:lnTo>
                    <a:pt x="3483737" y="0"/>
                  </a:lnTo>
                  <a:cubicBezTo>
                    <a:pt x="3544824" y="0"/>
                    <a:pt x="3594354" y="49530"/>
                    <a:pt x="3594354" y="110617"/>
                  </a:cubicBezTo>
                  <a:lnTo>
                    <a:pt x="3594354" y="3941318"/>
                  </a:lnTo>
                  <a:cubicBezTo>
                    <a:pt x="3594354" y="4002405"/>
                    <a:pt x="3544824" y="4051935"/>
                    <a:pt x="3483737" y="4051935"/>
                  </a:cubicBezTo>
                  <a:lnTo>
                    <a:pt x="110617" y="4051935"/>
                  </a:lnTo>
                  <a:cubicBezTo>
                    <a:pt x="49530" y="4051935"/>
                    <a:pt x="0" y="4002405"/>
                    <a:pt x="0" y="394131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16B3C7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2059010" y="2992422"/>
            <a:ext cx="892235" cy="754971"/>
            <a:chOff x="0" y="0"/>
            <a:chExt cx="1189647" cy="100662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89649" cy="1006626"/>
            </a:xfrm>
            <a:custGeom>
              <a:avLst/>
              <a:gdLst/>
              <a:ahLst/>
              <a:cxnLst/>
              <a:rect l="l" t="t" r="r" b="b"/>
              <a:pathLst>
                <a:path w="1189649" h="1006626">
                  <a:moveTo>
                    <a:pt x="0" y="0"/>
                  </a:moveTo>
                  <a:lnTo>
                    <a:pt x="1189649" y="0"/>
                  </a:lnTo>
                  <a:lnTo>
                    <a:pt x="1189649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564" r="-58564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1189647" cy="10066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143"/>
                </a:lnSpc>
              </a:pPr>
              <a:r>
                <a:rPr lang="en-US" sz="3452" b="1">
                  <a:solidFill>
                    <a:srgbClr val="16B3C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441304" y="4008206"/>
            <a:ext cx="2127647" cy="439255"/>
            <a:chOff x="0" y="0"/>
            <a:chExt cx="2836862" cy="58567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836856" cy="585674"/>
            </a:xfrm>
            <a:custGeom>
              <a:avLst/>
              <a:gdLst/>
              <a:ahLst/>
              <a:cxnLst/>
              <a:rect l="l" t="t" r="r" b="b"/>
              <a:pathLst>
                <a:path w="2836856" h="585674">
                  <a:moveTo>
                    <a:pt x="0" y="0"/>
                  </a:moveTo>
                  <a:lnTo>
                    <a:pt x="2836856" y="0"/>
                  </a:lnTo>
                  <a:lnTo>
                    <a:pt x="2836856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4380" b="-44380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2836862" cy="5856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12"/>
                </a:lnSpc>
              </a:pPr>
              <a:r>
                <a:rPr lang="en-US" sz="2176" b="1">
                  <a:solidFill>
                    <a:srgbClr val="1232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옵션 입력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413853" y="4612176"/>
            <a:ext cx="2196274" cy="754971"/>
            <a:chOff x="0" y="0"/>
            <a:chExt cx="2928366" cy="100662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928368" cy="1006626"/>
            </a:xfrm>
            <a:custGeom>
              <a:avLst/>
              <a:gdLst/>
              <a:ahLst/>
              <a:cxnLst/>
              <a:rect l="l" t="t" r="r" b="b"/>
              <a:pathLst>
                <a:path w="2928368" h="1006626">
                  <a:moveTo>
                    <a:pt x="0" y="0"/>
                  </a:moveTo>
                  <a:lnTo>
                    <a:pt x="2928368" y="0"/>
                  </a:lnTo>
                  <a:lnTo>
                    <a:pt x="2928368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83" b="-6683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2928366" cy="10066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91"/>
                </a:lnSpc>
              </a:pPr>
              <a:r>
                <a:rPr lang="en-US" sz="1576">
                  <a:solidFill>
                    <a:srgbClr val="5C6670"/>
                  </a:solidFill>
                  <a:latin typeface="Noto Sans"/>
                  <a:ea typeface="Noto Sans"/>
                  <a:cs typeface="Noto Sans"/>
                  <a:sym typeface="Noto Sans"/>
                </a:rPr>
                <a:t>색상·두께·가로·세로·수량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957495" y="3861406"/>
            <a:ext cx="348510" cy="540677"/>
            <a:chOff x="0" y="0"/>
            <a:chExt cx="464680" cy="72090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64693" cy="720852"/>
            </a:xfrm>
            <a:custGeom>
              <a:avLst/>
              <a:gdLst/>
              <a:ahLst/>
              <a:cxnLst/>
              <a:rect l="l" t="t" r="r" b="b"/>
              <a:pathLst>
                <a:path w="464693" h="720852">
                  <a:moveTo>
                    <a:pt x="0" y="0"/>
                  </a:moveTo>
                  <a:lnTo>
                    <a:pt x="232283" y="0"/>
                  </a:lnTo>
                  <a:lnTo>
                    <a:pt x="464693" y="360426"/>
                  </a:lnTo>
                  <a:lnTo>
                    <a:pt x="232283" y="720852"/>
                  </a:lnTo>
                  <a:lnTo>
                    <a:pt x="0" y="720852"/>
                  </a:lnTo>
                  <a:lnTo>
                    <a:pt x="232283" y="360426"/>
                  </a:lnTo>
                  <a:close/>
                </a:path>
              </a:pathLst>
            </a:custGeom>
            <a:solidFill>
              <a:srgbClr val="D5E0EA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4520289" y="2735809"/>
            <a:ext cx="2695775" cy="3038942"/>
            <a:chOff x="0" y="0"/>
            <a:chExt cx="3594367" cy="405192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594354" cy="4051935"/>
            </a:xfrm>
            <a:custGeom>
              <a:avLst/>
              <a:gdLst/>
              <a:ahLst/>
              <a:cxnLst/>
              <a:rect l="l" t="t" r="r" b="b"/>
              <a:pathLst>
                <a:path w="3594354" h="4051935">
                  <a:moveTo>
                    <a:pt x="0" y="110617"/>
                  </a:moveTo>
                  <a:cubicBezTo>
                    <a:pt x="0" y="49530"/>
                    <a:pt x="49530" y="0"/>
                    <a:pt x="110617" y="0"/>
                  </a:cubicBezTo>
                  <a:lnTo>
                    <a:pt x="3483737" y="0"/>
                  </a:lnTo>
                  <a:cubicBezTo>
                    <a:pt x="3544824" y="0"/>
                    <a:pt x="3594354" y="49530"/>
                    <a:pt x="3594354" y="110617"/>
                  </a:cubicBezTo>
                  <a:lnTo>
                    <a:pt x="3594354" y="3941318"/>
                  </a:lnTo>
                  <a:cubicBezTo>
                    <a:pt x="3594354" y="4002405"/>
                    <a:pt x="3544824" y="4051935"/>
                    <a:pt x="3483737" y="4051935"/>
                  </a:cubicBezTo>
                  <a:lnTo>
                    <a:pt x="110617" y="4051935"/>
                  </a:lnTo>
                  <a:cubicBezTo>
                    <a:pt x="49530" y="4051935"/>
                    <a:pt x="0" y="4002405"/>
                    <a:pt x="0" y="394131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2D6CDF"/>
              </a:solidFill>
              <a:prstDash val="solid"/>
              <a:miter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5422059" y="2992422"/>
            <a:ext cx="892235" cy="754971"/>
            <a:chOff x="0" y="0"/>
            <a:chExt cx="1189647" cy="1006627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189649" cy="1006626"/>
            </a:xfrm>
            <a:custGeom>
              <a:avLst/>
              <a:gdLst/>
              <a:ahLst/>
              <a:cxnLst/>
              <a:rect l="l" t="t" r="r" b="b"/>
              <a:pathLst>
                <a:path w="1189649" h="1006626">
                  <a:moveTo>
                    <a:pt x="0" y="0"/>
                  </a:moveTo>
                  <a:lnTo>
                    <a:pt x="1189649" y="0"/>
                  </a:lnTo>
                  <a:lnTo>
                    <a:pt x="1189649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564" r="-58564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0"/>
              <a:ext cx="1189647" cy="10066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143"/>
                </a:lnSpc>
              </a:pPr>
              <a:r>
                <a:rPr lang="en-US" sz="3452" b="1">
                  <a:solidFill>
                    <a:srgbClr val="2D6CD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2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804353" y="4008206"/>
            <a:ext cx="2127647" cy="439255"/>
            <a:chOff x="0" y="0"/>
            <a:chExt cx="2836862" cy="585673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836856" cy="585674"/>
            </a:xfrm>
            <a:custGeom>
              <a:avLst/>
              <a:gdLst/>
              <a:ahLst/>
              <a:cxnLst/>
              <a:rect l="l" t="t" r="r" b="b"/>
              <a:pathLst>
                <a:path w="2836856" h="585674">
                  <a:moveTo>
                    <a:pt x="0" y="0"/>
                  </a:moveTo>
                  <a:lnTo>
                    <a:pt x="2836856" y="0"/>
                  </a:lnTo>
                  <a:lnTo>
                    <a:pt x="2836856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4380" b="-44380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0"/>
              <a:ext cx="2836862" cy="5856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12"/>
                </a:lnSpc>
              </a:pPr>
              <a:r>
                <a:rPr lang="en-US" sz="2176" b="1">
                  <a:solidFill>
                    <a:srgbClr val="1232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견적 계산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776902" y="4612176"/>
            <a:ext cx="2196274" cy="754971"/>
            <a:chOff x="0" y="0"/>
            <a:chExt cx="2928366" cy="1006627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928368" cy="1006626"/>
            </a:xfrm>
            <a:custGeom>
              <a:avLst/>
              <a:gdLst/>
              <a:ahLst/>
              <a:cxnLst/>
              <a:rect l="l" t="t" r="r" b="b"/>
              <a:pathLst>
                <a:path w="2928368" h="1006626">
                  <a:moveTo>
                    <a:pt x="0" y="0"/>
                  </a:moveTo>
                  <a:lnTo>
                    <a:pt x="2928368" y="0"/>
                  </a:lnTo>
                  <a:lnTo>
                    <a:pt x="2928368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83" b="-6683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0"/>
              <a:ext cx="2928366" cy="10066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91"/>
                </a:lnSpc>
              </a:pPr>
              <a:r>
                <a:rPr lang="en-US" sz="1576">
                  <a:solidFill>
                    <a:srgbClr val="5C6670"/>
                  </a:solidFill>
                  <a:latin typeface="Noto Sans"/>
                  <a:ea typeface="Noto Sans"/>
                  <a:cs typeface="Noto Sans"/>
                  <a:sym typeface="Noto Sans"/>
                </a:rPr>
                <a:t>기본단가 × 면적 × 두께배율 × 수량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320534" y="3861406"/>
            <a:ext cx="348510" cy="540677"/>
            <a:chOff x="0" y="0"/>
            <a:chExt cx="464680" cy="720903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464693" cy="720852"/>
            </a:xfrm>
            <a:custGeom>
              <a:avLst/>
              <a:gdLst/>
              <a:ahLst/>
              <a:cxnLst/>
              <a:rect l="l" t="t" r="r" b="b"/>
              <a:pathLst>
                <a:path w="464693" h="720852">
                  <a:moveTo>
                    <a:pt x="0" y="0"/>
                  </a:moveTo>
                  <a:lnTo>
                    <a:pt x="232283" y="0"/>
                  </a:lnTo>
                  <a:lnTo>
                    <a:pt x="464693" y="360426"/>
                  </a:lnTo>
                  <a:lnTo>
                    <a:pt x="232283" y="720852"/>
                  </a:lnTo>
                  <a:lnTo>
                    <a:pt x="0" y="720852"/>
                  </a:lnTo>
                  <a:lnTo>
                    <a:pt x="232283" y="360426"/>
                  </a:lnTo>
                  <a:close/>
                </a:path>
              </a:pathLst>
            </a:custGeom>
            <a:solidFill>
              <a:srgbClr val="D5E0EA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7883338" y="2735809"/>
            <a:ext cx="2695775" cy="3038942"/>
            <a:chOff x="0" y="0"/>
            <a:chExt cx="3594367" cy="405192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3594354" cy="4051935"/>
            </a:xfrm>
            <a:custGeom>
              <a:avLst/>
              <a:gdLst/>
              <a:ahLst/>
              <a:cxnLst/>
              <a:rect l="l" t="t" r="r" b="b"/>
              <a:pathLst>
                <a:path w="3594354" h="4051935">
                  <a:moveTo>
                    <a:pt x="0" y="110617"/>
                  </a:moveTo>
                  <a:cubicBezTo>
                    <a:pt x="0" y="49530"/>
                    <a:pt x="49530" y="0"/>
                    <a:pt x="110617" y="0"/>
                  </a:cubicBezTo>
                  <a:lnTo>
                    <a:pt x="3483737" y="0"/>
                  </a:lnTo>
                  <a:cubicBezTo>
                    <a:pt x="3544824" y="0"/>
                    <a:pt x="3594354" y="49530"/>
                    <a:pt x="3594354" y="110617"/>
                  </a:cubicBezTo>
                  <a:lnTo>
                    <a:pt x="3594354" y="3941318"/>
                  </a:lnTo>
                  <a:cubicBezTo>
                    <a:pt x="3594354" y="4002405"/>
                    <a:pt x="3544824" y="4051935"/>
                    <a:pt x="3483737" y="4051935"/>
                  </a:cubicBezTo>
                  <a:lnTo>
                    <a:pt x="110617" y="4051935"/>
                  </a:lnTo>
                  <a:cubicBezTo>
                    <a:pt x="49530" y="4051935"/>
                    <a:pt x="0" y="4002405"/>
                    <a:pt x="0" y="394131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4CA66A"/>
              </a:solidFill>
              <a:prstDash val="solid"/>
              <a:miter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8785108" y="2992422"/>
            <a:ext cx="892235" cy="754971"/>
            <a:chOff x="0" y="0"/>
            <a:chExt cx="1189647" cy="1006627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189649" cy="1006626"/>
            </a:xfrm>
            <a:custGeom>
              <a:avLst/>
              <a:gdLst/>
              <a:ahLst/>
              <a:cxnLst/>
              <a:rect l="l" t="t" r="r" b="b"/>
              <a:pathLst>
                <a:path w="1189649" h="1006626">
                  <a:moveTo>
                    <a:pt x="0" y="0"/>
                  </a:moveTo>
                  <a:lnTo>
                    <a:pt x="1189649" y="0"/>
                  </a:lnTo>
                  <a:lnTo>
                    <a:pt x="1189649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564" r="-58564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0"/>
              <a:ext cx="1189647" cy="10066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143"/>
                </a:lnSpc>
              </a:pPr>
              <a:r>
                <a:rPr lang="en-US" sz="3452" b="1">
                  <a:solidFill>
                    <a:srgbClr val="4CA66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3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167402" y="4008206"/>
            <a:ext cx="2127647" cy="439255"/>
            <a:chOff x="0" y="0"/>
            <a:chExt cx="2836862" cy="585673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836856" cy="585674"/>
            </a:xfrm>
            <a:custGeom>
              <a:avLst/>
              <a:gdLst/>
              <a:ahLst/>
              <a:cxnLst/>
              <a:rect l="l" t="t" r="r" b="b"/>
              <a:pathLst>
                <a:path w="2836856" h="585674">
                  <a:moveTo>
                    <a:pt x="0" y="0"/>
                  </a:moveTo>
                  <a:lnTo>
                    <a:pt x="2836856" y="0"/>
                  </a:lnTo>
                  <a:lnTo>
                    <a:pt x="2836856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4380" b="-44380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0"/>
              <a:ext cx="2836862" cy="5856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12"/>
                </a:lnSpc>
              </a:pPr>
              <a:r>
                <a:rPr lang="en-US" sz="2176" b="1">
                  <a:solidFill>
                    <a:srgbClr val="1232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장바구니 담기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8139951" y="4612176"/>
            <a:ext cx="2196274" cy="754971"/>
            <a:chOff x="0" y="0"/>
            <a:chExt cx="2928366" cy="1006627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928368" cy="1006626"/>
            </a:xfrm>
            <a:custGeom>
              <a:avLst/>
              <a:gdLst/>
              <a:ahLst/>
              <a:cxnLst/>
              <a:rect l="l" t="t" r="r" b="b"/>
              <a:pathLst>
                <a:path w="2928368" h="1006626">
                  <a:moveTo>
                    <a:pt x="0" y="0"/>
                  </a:moveTo>
                  <a:lnTo>
                    <a:pt x="2928368" y="0"/>
                  </a:lnTo>
                  <a:lnTo>
                    <a:pt x="2928368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83" b="-6683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0"/>
              <a:ext cx="2928366" cy="10066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91"/>
                </a:lnSpc>
              </a:pPr>
              <a:r>
                <a:rPr lang="en-US" sz="1576">
                  <a:solidFill>
                    <a:srgbClr val="5C6670"/>
                  </a:solidFill>
                  <a:latin typeface="Noto Sans"/>
                  <a:ea typeface="Noto Sans"/>
                  <a:cs typeface="Noto Sans"/>
                  <a:sym typeface="Noto Sans"/>
                </a:rPr>
                <a:t>회원번호 기준 CartItem 저장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0683583" y="3861406"/>
            <a:ext cx="348510" cy="540677"/>
            <a:chOff x="0" y="0"/>
            <a:chExt cx="464680" cy="720903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464693" cy="720852"/>
            </a:xfrm>
            <a:custGeom>
              <a:avLst/>
              <a:gdLst/>
              <a:ahLst/>
              <a:cxnLst/>
              <a:rect l="l" t="t" r="r" b="b"/>
              <a:pathLst>
                <a:path w="464693" h="720852">
                  <a:moveTo>
                    <a:pt x="0" y="0"/>
                  </a:moveTo>
                  <a:lnTo>
                    <a:pt x="232283" y="0"/>
                  </a:lnTo>
                  <a:lnTo>
                    <a:pt x="464693" y="360426"/>
                  </a:lnTo>
                  <a:lnTo>
                    <a:pt x="232283" y="720852"/>
                  </a:lnTo>
                  <a:lnTo>
                    <a:pt x="0" y="720852"/>
                  </a:lnTo>
                  <a:lnTo>
                    <a:pt x="232283" y="360426"/>
                  </a:lnTo>
                  <a:close/>
                </a:path>
              </a:pathLst>
            </a:custGeom>
            <a:solidFill>
              <a:srgbClr val="D5E0EA"/>
            </a:solidFill>
          </p:spPr>
        </p:sp>
      </p:grpSp>
      <p:grpSp>
        <p:nvGrpSpPr>
          <p:cNvPr id="57" name="Group 57"/>
          <p:cNvGrpSpPr/>
          <p:nvPr/>
        </p:nvGrpSpPr>
        <p:grpSpPr>
          <a:xfrm>
            <a:off x="11246377" y="2735809"/>
            <a:ext cx="2695775" cy="3038942"/>
            <a:chOff x="0" y="0"/>
            <a:chExt cx="3594367" cy="4051922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3594354" cy="4051935"/>
            </a:xfrm>
            <a:custGeom>
              <a:avLst/>
              <a:gdLst/>
              <a:ahLst/>
              <a:cxnLst/>
              <a:rect l="l" t="t" r="r" b="b"/>
              <a:pathLst>
                <a:path w="3594354" h="4051935">
                  <a:moveTo>
                    <a:pt x="0" y="110617"/>
                  </a:moveTo>
                  <a:cubicBezTo>
                    <a:pt x="0" y="49530"/>
                    <a:pt x="49530" y="0"/>
                    <a:pt x="110617" y="0"/>
                  </a:cubicBezTo>
                  <a:lnTo>
                    <a:pt x="3483737" y="0"/>
                  </a:lnTo>
                  <a:cubicBezTo>
                    <a:pt x="3544824" y="0"/>
                    <a:pt x="3594354" y="49530"/>
                    <a:pt x="3594354" y="110617"/>
                  </a:cubicBezTo>
                  <a:lnTo>
                    <a:pt x="3594354" y="3941318"/>
                  </a:lnTo>
                  <a:cubicBezTo>
                    <a:pt x="3594354" y="4002405"/>
                    <a:pt x="3544824" y="4051935"/>
                    <a:pt x="3483737" y="4051935"/>
                  </a:cubicBezTo>
                  <a:lnTo>
                    <a:pt x="110617" y="4051935"/>
                  </a:lnTo>
                  <a:cubicBezTo>
                    <a:pt x="49530" y="4051935"/>
                    <a:pt x="0" y="4002405"/>
                    <a:pt x="0" y="394131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F3B03E"/>
              </a:solidFill>
              <a:prstDash val="solid"/>
              <a:miter/>
            </a:ln>
          </p:spPr>
        </p:sp>
      </p:grpSp>
      <p:grpSp>
        <p:nvGrpSpPr>
          <p:cNvPr id="59" name="Group 59"/>
          <p:cNvGrpSpPr/>
          <p:nvPr/>
        </p:nvGrpSpPr>
        <p:grpSpPr>
          <a:xfrm>
            <a:off x="12148147" y="2992422"/>
            <a:ext cx="892235" cy="754971"/>
            <a:chOff x="0" y="0"/>
            <a:chExt cx="1189647" cy="1006627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189649" cy="1006626"/>
            </a:xfrm>
            <a:custGeom>
              <a:avLst/>
              <a:gdLst/>
              <a:ahLst/>
              <a:cxnLst/>
              <a:rect l="l" t="t" r="r" b="b"/>
              <a:pathLst>
                <a:path w="1189649" h="1006626">
                  <a:moveTo>
                    <a:pt x="0" y="0"/>
                  </a:moveTo>
                  <a:lnTo>
                    <a:pt x="1189649" y="0"/>
                  </a:lnTo>
                  <a:lnTo>
                    <a:pt x="1189649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564" r="-58564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0"/>
              <a:ext cx="1189647" cy="10066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143"/>
                </a:lnSpc>
              </a:pPr>
              <a:r>
                <a:rPr lang="en-US" sz="3452" b="1">
                  <a:solidFill>
                    <a:srgbClr val="F3B03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4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1530451" y="4008206"/>
            <a:ext cx="2127647" cy="439255"/>
            <a:chOff x="0" y="0"/>
            <a:chExt cx="2836862" cy="585673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2836856" cy="585674"/>
            </a:xfrm>
            <a:custGeom>
              <a:avLst/>
              <a:gdLst/>
              <a:ahLst/>
              <a:cxnLst/>
              <a:rect l="l" t="t" r="r" b="b"/>
              <a:pathLst>
                <a:path w="2836856" h="585674">
                  <a:moveTo>
                    <a:pt x="0" y="0"/>
                  </a:moveTo>
                  <a:lnTo>
                    <a:pt x="2836856" y="0"/>
                  </a:lnTo>
                  <a:lnTo>
                    <a:pt x="2836856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4380" b="-44380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0"/>
              <a:ext cx="2836862" cy="5856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12"/>
                </a:lnSpc>
              </a:pPr>
              <a:r>
                <a:rPr lang="en-US" sz="2176" b="1">
                  <a:solidFill>
                    <a:srgbClr val="1232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주문 생성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1502990" y="4612176"/>
            <a:ext cx="2196274" cy="754971"/>
            <a:chOff x="0" y="0"/>
            <a:chExt cx="2928366" cy="1006627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2928368" cy="1006626"/>
            </a:xfrm>
            <a:custGeom>
              <a:avLst/>
              <a:gdLst/>
              <a:ahLst/>
              <a:cxnLst/>
              <a:rect l="l" t="t" r="r" b="b"/>
              <a:pathLst>
                <a:path w="2928368" h="1006626">
                  <a:moveTo>
                    <a:pt x="0" y="0"/>
                  </a:moveTo>
                  <a:lnTo>
                    <a:pt x="2928368" y="0"/>
                  </a:lnTo>
                  <a:lnTo>
                    <a:pt x="2928368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83" b="-6683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0"/>
              <a:ext cx="2928366" cy="10066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91"/>
                </a:lnSpc>
              </a:pPr>
              <a:r>
                <a:rPr lang="en-US" sz="1576">
                  <a:solidFill>
                    <a:srgbClr val="5C6670"/>
                  </a:solidFill>
                  <a:latin typeface="Noto Sans"/>
                  <a:ea typeface="Noto Sans"/>
                  <a:cs typeface="Noto Sans"/>
                  <a:sym typeface="Noto Sans"/>
                </a:rPr>
                <a:t>재고 차감, 주문번호·일자 자동 부여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4046632" y="3861406"/>
            <a:ext cx="348510" cy="540677"/>
            <a:chOff x="0" y="0"/>
            <a:chExt cx="464680" cy="720903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464693" cy="720852"/>
            </a:xfrm>
            <a:custGeom>
              <a:avLst/>
              <a:gdLst/>
              <a:ahLst/>
              <a:cxnLst/>
              <a:rect l="l" t="t" r="r" b="b"/>
              <a:pathLst>
                <a:path w="464693" h="720852">
                  <a:moveTo>
                    <a:pt x="0" y="0"/>
                  </a:moveTo>
                  <a:lnTo>
                    <a:pt x="232283" y="0"/>
                  </a:lnTo>
                  <a:lnTo>
                    <a:pt x="464693" y="360426"/>
                  </a:lnTo>
                  <a:lnTo>
                    <a:pt x="232283" y="720852"/>
                  </a:lnTo>
                  <a:lnTo>
                    <a:pt x="0" y="720852"/>
                  </a:lnTo>
                  <a:lnTo>
                    <a:pt x="232283" y="360426"/>
                  </a:lnTo>
                  <a:close/>
                </a:path>
              </a:pathLst>
            </a:custGeom>
            <a:solidFill>
              <a:srgbClr val="D5E0EA"/>
            </a:solidFill>
          </p:spPr>
        </p:sp>
      </p:grpSp>
      <p:grpSp>
        <p:nvGrpSpPr>
          <p:cNvPr id="70" name="Group 70"/>
          <p:cNvGrpSpPr/>
          <p:nvPr/>
        </p:nvGrpSpPr>
        <p:grpSpPr>
          <a:xfrm>
            <a:off x="14609426" y="2735809"/>
            <a:ext cx="2695775" cy="3038942"/>
            <a:chOff x="0" y="0"/>
            <a:chExt cx="3594367" cy="4051922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3594354" cy="4051935"/>
            </a:xfrm>
            <a:custGeom>
              <a:avLst/>
              <a:gdLst/>
              <a:ahLst/>
              <a:cxnLst/>
              <a:rect l="l" t="t" r="r" b="b"/>
              <a:pathLst>
                <a:path w="3594354" h="4051935">
                  <a:moveTo>
                    <a:pt x="0" y="110617"/>
                  </a:moveTo>
                  <a:cubicBezTo>
                    <a:pt x="0" y="49530"/>
                    <a:pt x="49530" y="0"/>
                    <a:pt x="110617" y="0"/>
                  </a:cubicBezTo>
                  <a:lnTo>
                    <a:pt x="3483737" y="0"/>
                  </a:lnTo>
                  <a:cubicBezTo>
                    <a:pt x="3544824" y="0"/>
                    <a:pt x="3594354" y="49530"/>
                    <a:pt x="3594354" y="110617"/>
                  </a:cubicBezTo>
                  <a:lnTo>
                    <a:pt x="3594354" y="3941318"/>
                  </a:lnTo>
                  <a:cubicBezTo>
                    <a:pt x="3594354" y="4002405"/>
                    <a:pt x="3544824" y="4051935"/>
                    <a:pt x="3483737" y="4051935"/>
                  </a:cubicBezTo>
                  <a:lnTo>
                    <a:pt x="110617" y="4051935"/>
                  </a:lnTo>
                  <a:cubicBezTo>
                    <a:pt x="49530" y="4051935"/>
                    <a:pt x="0" y="4002405"/>
                    <a:pt x="0" y="394131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F26C63"/>
              </a:solidFill>
              <a:prstDash val="solid"/>
              <a:miter/>
            </a:ln>
          </p:spPr>
        </p:sp>
      </p:grpSp>
      <p:grpSp>
        <p:nvGrpSpPr>
          <p:cNvPr id="72" name="Group 72"/>
          <p:cNvGrpSpPr/>
          <p:nvPr/>
        </p:nvGrpSpPr>
        <p:grpSpPr>
          <a:xfrm>
            <a:off x="15511196" y="2992422"/>
            <a:ext cx="892235" cy="754971"/>
            <a:chOff x="0" y="0"/>
            <a:chExt cx="1189647" cy="1006627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189649" cy="1006626"/>
            </a:xfrm>
            <a:custGeom>
              <a:avLst/>
              <a:gdLst/>
              <a:ahLst/>
              <a:cxnLst/>
              <a:rect l="l" t="t" r="r" b="b"/>
              <a:pathLst>
                <a:path w="1189649" h="1006626">
                  <a:moveTo>
                    <a:pt x="0" y="0"/>
                  </a:moveTo>
                  <a:lnTo>
                    <a:pt x="1189649" y="0"/>
                  </a:lnTo>
                  <a:lnTo>
                    <a:pt x="1189649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564" r="-58564"/>
              </a:stretch>
            </a:blipFill>
          </p:spPr>
        </p:sp>
        <p:sp>
          <p:nvSpPr>
            <p:cNvPr id="74" name="TextBox 74"/>
            <p:cNvSpPr txBox="1"/>
            <p:nvPr/>
          </p:nvSpPr>
          <p:spPr>
            <a:xfrm>
              <a:off x="0" y="0"/>
              <a:ext cx="1189647" cy="10066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143"/>
                </a:lnSpc>
              </a:pPr>
              <a:r>
                <a:rPr lang="en-US" sz="3452" b="1">
                  <a:solidFill>
                    <a:srgbClr val="F26C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5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4893500" y="4008206"/>
            <a:ext cx="2127647" cy="439255"/>
            <a:chOff x="0" y="0"/>
            <a:chExt cx="2836862" cy="585673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2836856" cy="585674"/>
            </a:xfrm>
            <a:custGeom>
              <a:avLst/>
              <a:gdLst/>
              <a:ahLst/>
              <a:cxnLst/>
              <a:rect l="l" t="t" r="r" b="b"/>
              <a:pathLst>
                <a:path w="2836856" h="585674">
                  <a:moveTo>
                    <a:pt x="0" y="0"/>
                  </a:moveTo>
                  <a:lnTo>
                    <a:pt x="2836856" y="0"/>
                  </a:lnTo>
                  <a:lnTo>
                    <a:pt x="2836856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4380" b="-44380"/>
              </a:stretch>
            </a:blipFill>
          </p:spPr>
        </p:sp>
        <p:sp>
          <p:nvSpPr>
            <p:cNvPr id="77" name="TextBox 77"/>
            <p:cNvSpPr txBox="1"/>
            <p:nvPr/>
          </p:nvSpPr>
          <p:spPr>
            <a:xfrm>
              <a:off x="0" y="0"/>
              <a:ext cx="2836862" cy="5856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12"/>
                </a:lnSpc>
              </a:pPr>
              <a:r>
                <a:rPr lang="en-US" sz="2176" b="1">
                  <a:solidFill>
                    <a:srgbClr val="1232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상태 관리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14866039" y="4612176"/>
            <a:ext cx="2196274" cy="754971"/>
            <a:chOff x="0" y="0"/>
            <a:chExt cx="2928366" cy="1006627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2928368" cy="1006626"/>
            </a:xfrm>
            <a:custGeom>
              <a:avLst/>
              <a:gdLst/>
              <a:ahLst/>
              <a:cxnLst/>
              <a:rect l="l" t="t" r="r" b="b"/>
              <a:pathLst>
                <a:path w="2928368" h="1006626">
                  <a:moveTo>
                    <a:pt x="0" y="0"/>
                  </a:moveTo>
                  <a:lnTo>
                    <a:pt x="2928368" y="0"/>
                  </a:lnTo>
                  <a:lnTo>
                    <a:pt x="2928368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83" b="-6683"/>
              </a:stretch>
            </a:blipFill>
          </p:spPr>
        </p:sp>
        <p:sp>
          <p:nvSpPr>
            <p:cNvPr id="80" name="TextBox 80"/>
            <p:cNvSpPr txBox="1"/>
            <p:nvPr/>
          </p:nvSpPr>
          <p:spPr>
            <a:xfrm>
              <a:off x="0" y="0"/>
              <a:ext cx="2928366" cy="10066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91"/>
                </a:lnSpc>
              </a:pPr>
              <a:r>
                <a:rPr lang="en-US" sz="1576">
                  <a:solidFill>
                    <a:srgbClr val="5C6670"/>
                  </a:solidFill>
                  <a:latin typeface="Noto Sans"/>
                  <a:ea typeface="Noto Sans"/>
                  <a:cs typeface="Noto Sans"/>
                  <a:sym typeface="Noto Sans"/>
                </a:rPr>
                <a:t>주문접수 → 배송중 → 배송완료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1569044" y="7540161"/>
            <a:ext cx="15049824" cy="1007393"/>
            <a:chOff x="0" y="0"/>
            <a:chExt cx="20066432" cy="134319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20066381" cy="1343152"/>
            </a:xfrm>
            <a:custGeom>
              <a:avLst/>
              <a:gdLst/>
              <a:ahLst/>
              <a:cxnLst/>
              <a:rect l="l" t="t" r="r" b="b"/>
              <a:pathLst>
                <a:path w="20066381" h="1343152">
                  <a:moveTo>
                    <a:pt x="0" y="111887"/>
                  </a:moveTo>
                  <a:cubicBezTo>
                    <a:pt x="0" y="50165"/>
                    <a:pt x="50165" y="0"/>
                    <a:pt x="111887" y="0"/>
                  </a:cubicBezTo>
                  <a:lnTo>
                    <a:pt x="19954494" y="0"/>
                  </a:lnTo>
                  <a:cubicBezTo>
                    <a:pt x="20016343" y="0"/>
                    <a:pt x="20066381" y="50165"/>
                    <a:pt x="20066381" y="111887"/>
                  </a:cubicBezTo>
                  <a:lnTo>
                    <a:pt x="20066381" y="1231265"/>
                  </a:lnTo>
                  <a:cubicBezTo>
                    <a:pt x="20066381" y="1293114"/>
                    <a:pt x="20016215" y="1343152"/>
                    <a:pt x="19954494" y="1343152"/>
                  </a:cubicBezTo>
                  <a:lnTo>
                    <a:pt x="111887" y="1343152"/>
                  </a:lnTo>
                  <a:cubicBezTo>
                    <a:pt x="50038" y="1343152"/>
                    <a:pt x="0" y="1292987"/>
                    <a:pt x="0" y="1231265"/>
                  </a:cubicBezTo>
                  <a:close/>
                </a:path>
              </a:pathLst>
            </a:custGeom>
            <a:solidFill>
              <a:srgbClr val="12324A"/>
            </a:solidFill>
            <a:ln w="19065" cap="sq">
              <a:solidFill>
                <a:srgbClr val="12324A"/>
              </a:solidFill>
              <a:prstDash val="solid"/>
              <a:miter/>
            </a:ln>
          </p:spPr>
        </p:sp>
      </p:grpSp>
      <p:grpSp>
        <p:nvGrpSpPr>
          <p:cNvPr id="83" name="Group 83"/>
          <p:cNvGrpSpPr/>
          <p:nvPr/>
        </p:nvGrpSpPr>
        <p:grpSpPr>
          <a:xfrm>
            <a:off x="1990373" y="7879137"/>
            <a:ext cx="14138529" cy="343167"/>
            <a:chOff x="0" y="0"/>
            <a:chExt cx="18851372" cy="457556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18851367" cy="457557"/>
            </a:xfrm>
            <a:custGeom>
              <a:avLst/>
              <a:gdLst/>
              <a:ahLst/>
              <a:cxnLst/>
              <a:rect l="l" t="t" r="r" b="b"/>
              <a:pathLst>
                <a:path w="18851367" h="457557">
                  <a:moveTo>
                    <a:pt x="0" y="0"/>
                  </a:moveTo>
                  <a:lnTo>
                    <a:pt x="18851367" y="0"/>
                  </a:lnTo>
                  <a:lnTo>
                    <a:pt x="18851367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2783" b="-752783"/>
              </a:stretch>
            </a:blipFill>
          </p:spPr>
        </p:sp>
        <p:sp>
          <p:nvSpPr>
            <p:cNvPr id="85" name="TextBox 85"/>
            <p:cNvSpPr txBox="1"/>
            <p:nvPr/>
          </p:nvSpPr>
          <p:spPr>
            <a:xfrm>
              <a:off x="0" y="0"/>
              <a:ext cx="18851372" cy="4575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1"/>
                </a:lnSpc>
              </a:pPr>
              <a:r>
                <a:rPr lang="en-US" sz="2101" b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주문 취소는 “주문접수” 상태에서만 가능하며, 취소 시 재고를 복구하도록 설계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35" y="-9535"/>
            <a:ext cx="18320909" cy="183785"/>
            <a:chOff x="0" y="0"/>
            <a:chExt cx="24427878" cy="2450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27814" cy="245110"/>
            </a:xfrm>
            <a:custGeom>
              <a:avLst/>
              <a:gdLst/>
              <a:ahLst/>
              <a:cxnLst/>
              <a:rect l="l" t="t" r="r" b="b"/>
              <a:pathLst>
                <a:path w="24427814" h="245110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16B3C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892235" y="480431"/>
            <a:ext cx="14413059" cy="617706"/>
            <a:chOff x="0" y="0"/>
            <a:chExt cx="19217411" cy="82360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217413" cy="823603"/>
            </a:xfrm>
            <a:custGeom>
              <a:avLst/>
              <a:gdLst/>
              <a:ahLst/>
              <a:cxnLst/>
              <a:rect l="l" t="t" r="r" b="b"/>
              <a:pathLst>
                <a:path w="19217413" h="823603">
                  <a:moveTo>
                    <a:pt x="0" y="0"/>
                  </a:moveTo>
                  <a:lnTo>
                    <a:pt x="19217413" y="0"/>
                  </a:lnTo>
                  <a:lnTo>
                    <a:pt x="19217413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04650" b="-40465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19217411" cy="8331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3"/>
                </a:lnSpc>
              </a:pPr>
              <a:r>
                <a:rPr lang="en-US" sz="3752" b="1">
                  <a:solidFill>
                    <a:srgbClr val="1232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09. 코드 시연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33421" y="1125588"/>
            <a:ext cx="13452186" cy="343168"/>
            <a:chOff x="0" y="0"/>
            <a:chExt cx="17936248" cy="45755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936252" cy="457559"/>
            </a:xfrm>
            <a:custGeom>
              <a:avLst/>
              <a:gdLst/>
              <a:ahLst/>
              <a:cxnLst/>
              <a:rect l="l" t="t" r="r" b="b"/>
              <a:pathLst>
                <a:path w="17936252" h="457559">
                  <a:moveTo>
                    <a:pt x="0" y="0"/>
                  </a:moveTo>
                  <a:lnTo>
                    <a:pt x="17936252" y="0"/>
                  </a:lnTo>
                  <a:lnTo>
                    <a:pt x="17936252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713810" b="-713809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7936248" cy="4575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11"/>
                </a:lnSpc>
              </a:pPr>
              <a:r>
                <a:rPr lang="en-US" sz="1426">
                  <a:solidFill>
                    <a:srgbClr val="5C6670"/>
                  </a:solidFill>
                  <a:latin typeface="Noto Sans"/>
                  <a:ea typeface="Noto Sans"/>
                  <a:cs typeface="Noto Sans"/>
                  <a:sym typeface="Noto Sans"/>
                </a:rPr>
                <a:t>코드 시연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82701" y="1472956"/>
            <a:ext cx="1666275" cy="87697"/>
            <a:chOff x="0" y="0"/>
            <a:chExt cx="2221700" cy="1169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21738" cy="116967"/>
            </a:xfrm>
            <a:custGeom>
              <a:avLst/>
              <a:gdLst/>
              <a:ahLst/>
              <a:cxnLst/>
              <a:rect l="l" t="t" r="r" b="b"/>
              <a:pathLst>
                <a:path w="2221738" h="116967">
                  <a:moveTo>
                    <a:pt x="0" y="0"/>
                  </a:moveTo>
                  <a:lnTo>
                    <a:pt x="2221738" y="0"/>
                  </a:lnTo>
                  <a:lnTo>
                    <a:pt x="2221738" y="116967"/>
                  </a:lnTo>
                  <a:lnTo>
                    <a:pt x="0" y="116967"/>
                  </a:lnTo>
                  <a:close/>
                </a:path>
              </a:pathLst>
            </a:custGeom>
            <a:solidFill>
              <a:srgbClr val="16B3C7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6952500" y="9677343"/>
            <a:ext cx="549069" cy="343167"/>
            <a:chOff x="0" y="0"/>
            <a:chExt cx="732092" cy="45755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32092" cy="457557"/>
            </a:xfrm>
            <a:custGeom>
              <a:avLst/>
              <a:gdLst/>
              <a:ahLst/>
              <a:cxnLst/>
              <a:rect l="l" t="t" r="r" b="b"/>
              <a:pathLst>
                <a:path w="732092" h="457557">
                  <a:moveTo>
                    <a:pt x="0" y="0"/>
                  </a:moveTo>
                  <a:lnTo>
                    <a:pt x="732092" y="0"/>
                  </a:lnTo>
                  <a:lnTo>
                    <a:pt x="732092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0189" r="-30189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732092" cy="4670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1"/>
                </a:lnSpc>
              </a:pPr>
              <a:r>
                <a:rPr lang="en-US" sz="1275">
                  <a:solidFill>
                    <a:srgbClr val="5C6670"/>
                  </a:solidFill>
                  <a:latin typeface="Noto Sans"/>
                  <a:ea typeface="Noto Sans"/>
                  <a:cs typeface="Noto Sans"/>
                  <a:sym typeface="Noto Sans"/>
                </a:rPr>
                <a:t>10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92235" y="9677343"/>
            <a:ext cx="5490686" cy="343167"/>
            <a:chOff x="0" y="0"/>
            <a:chExt cx="7320915" cy="45755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320920" cy="457557"/>
            </a:xfrm>
            <a:custGeom>
              <a:avLst/>
              <a:gdLst/>
              <a:ahLst/>
              <a:cxnLst/>
              <a:rect l="l" t="t" r="r" b="b"/>
              <a:pathLst>
                <a:path w="7320920" h="457557">
                  <a:moveTo>
                    <a:pt x="0" y="0"/>
                  </a:moveTo>
                  <a:lnTo>
                    <a:pt x="7320920" y="0"/>
                  </a:lnTo>
                  <a:lnTo>
                    <a:pt x="7320920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61760" b="-261760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7320915" cy="4670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1"/>
                </a:lnSpc>
              </a:pPr>
              <a:r>
                <a:rPr lang="en-US" sz="1275">
                  <a:solidFill>
                    <a:srgbClr val="7A8793"/>
                  </a:solidFill>
                  <a:latin typeface="Noto Sans"/>
                  <a:ea typeface="Noto Sans"/>
                  <a:cs typeface="Noto Sans"/>
                  <a:sym typeface="Noto Sans"/>
                </a:rPr>
                <a:t>Acrylic Panel Custom Order System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940081" y="1687860"/>
            <a:ext cx="3862549" cy="7500128"/>
            <a:chOff x="0" y="0"/>
            <a:chExt cx="5150066" cy="1000017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150104" cy="10000107"/>
            </a:xfrm>
            <a:custGeom>
              <a:avLst/>
              <a:gdLst/>
              <a:ahLst/>
              <a:cxnLst/>
              <a:rect l="l" t="t" r="r" b="b"/>
              <a:pathLst>
                <a:path w="5150104" h="10000107">
                  <a:moveTo>
                    <a:pt x="0" y="110363"/>
                  </a:moveTo>
                  <a:cubicBezTo>
                    <a:pt x="0" y="49403"/>
                    <a:pt x="49403" y="0"/>
                    <a:pt x="110363" y="0"/>
                  </a:cubicBezTo>
                  <a:lnTo>
                    <a:pt x="5039741" y="0"/>
                  </a:lnTo>
                  <a:cubicBezTo>
                    <a:pt x="5100701" y="0"/>
                    <a:pt x="5150104" y="49403"/>
                    <a:pt x="5150104" y="110363"/>
                  </a:cubicBezTo>
                  <a:lnTo>
                    <a:pt x="5150104" y="9889744"/>
                  </a:lnTo>
                  <a:cubicBezTo>
                    <a:pt x="5150104" y="9950703"/>
                    <a:pt x="5100701" y="10000107"/>
                    <a:pt x="5039741" y="10000107"/>
                  </a:cubicBezTo>
                  <a:lnTo>
                    <a:pt x="110363" y="10000107"/>
                  </a:lnTo>
                  <a:cubicBezTo>
                    <a:pt x="49403" y="10000107"/>
                    <a:pt x="0" y="9950703"/>
                    <a:pt x="0" y="9889744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E0EA"/>
              </a:solidFill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14361419" y="2191551"/>
            <a:ext cx="3019882" cy="498266"/>
            <a:chOff x="0" y="0"/>
            <a:chExt cx="4026510" cy="66435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026506" cy="664351"/>
            </a:xfrm>
            <a:custGeom>
              <a:avLst/>
              <a:gdLst/>
              <a:ahLst/>
              <a:cxnLst/>
              <a:rect l="l" t="t" r="r" b="b"/>
              <a:pathLst>
                <a:path w="4026506" h="664351">
                  <a:moveTo>
                    <a:pt x="0" y="0"/>
                  </a:moveTo>
                  <a:lnTo>
                    <a:pt x="4026506" y="0"/>
                  </a:lnTo>
                  <a:lnTo>
                    <a:pt x="4026506" y="664351"/>
                  </a:lnTo>
                  <a:lnTo>
                    <a:pt x="0" y="66435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76771" b="-59419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0"/>
              <a:ext cx="4026510" cy="6643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2"/>
                </a:lnSpc>
              </a:pPr>
              <a:r>
                <a:rPr lang="en-US" sz="2551" b="1">
                  <a:solidFill>
                    <a:srgbClr val="1232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시연 순서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4430047" y="2932796"/>
            <a:ext cx="2882608" cy="4255284"/>
            <a:chOff x="0" y="0"/>
            <a:chExt cx="3843477" cy="567371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843483" cy="5673713"/>
            </a:xfrm>
            <a:custGeom>
              <a:avLst/>
              <a:gdLst/>
              <a:ahLst/>
              <a:cxnLst/>
              <a:rect l="l" t="t" r="r" b="b"/>
              <a:pathLst>
                <a:path w="3843483" h="5673713">
                  <a:moveTo>
                    <a:pt x="0" y="0"/>
                  </a:moveTo>
                  <a:lnTo>
                    <a:pt x="3843483" y="0"/>
                  </a:lnTo>
                  <a:lnTo>
                    <a:pt x="3843483" y="5673713"/>
                  </a:lnTo>
                  <a:lnTo>
                    <a:pt x="0" y="567371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39400" r="-139400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3843477" cy="56737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0B1720"/>
                  </a:solidFill>
                  <a:latin typeface="Noto Sans"/>
                  <a:ea typeface="Noto Sans"/>
                  <a:cs typeface="Noto Sans"/>
                  <a:sym typeface="Noto Sans"/>
                </a:rPr>
                <a:t>비회원 견적 계산</a:t>
              </a:r>
            </a:p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0B1720"/>
                  </a:solidFill>
                  <a:latin typeface="Noto Sans"/>
                  <a:ea typeface="Noto Sans"/>
                  <a:cs typeface="Noto Sans"/>
                  <a:sym typeface="Noto Sans"/>
                </a:rPr>
                <a:t>회원</a:t>
              </a:r>
            </a:p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0B1720"/>
                  </a:solidFill>
                  <a:latin typeface="Noto Sans"/>
                  <a:ea typeface="Noto Sans"/>
                  <a:cs typeface="Noto Sans"/>
                  <a:sym typeface="Noto Sans"/>
                </a:rPr>
                <a:t>관리자</a:t>
              </a:r>
            </a:p>
          </p:txBody>
        </p:sp>
      </p:grpSp>
      <p:pic>
        <p:nvPicPr>
          <p:cNvPr id="28" name="clideo_editor_68d9e61693e0411ab239c3373f065f3f">
            <a:hlinkClick r:id="" action="ppaction://media"/>
            <a:extLst>
              <a:ext uri="{FF2B5EF4-FFF2-40B4-BE49-F238E27FC236}">
                <a16:creationId xmlns:a16="http://schemas.microsoft.com/office/drawing/2014/main" id="{97996222-7E4B-D49F-ADDA-AEDF1E560B6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31372" y="1812472"/>
            <a:ext cx="13071566" cy="73478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2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35" y="-9535"/>
            <a:ext cx="18320909" cy="183785"/>
            <a:chOff x="0" y="0"/>
            <a:chExt cx="24427878" cy="2450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27814" cy="245110"/>
            </a:xfrm>
            <a:custGeom>
              <a:avLst/>
              <a:gdLst/>
              <a:ahLst/>
              <a:cxnLst/>
              <a:rect l="l" t="t" r="r" b="b"/>
              <a:pathLst>
                <a:path w="24427814" h="245110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16B3C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892235" y="480431"/>
            <a:ext cx="14413059" cy="617706"/>
            <a:chOff x="0" y="0"/>
            <a:chExt cx="19217411" cy="82360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217413" cy="823603"/>
            </a:xfrm>
            <a:custGeom>
              <a:avLst/>
              <a:gdLst/>
              <a:ahLst/>
              <a:cxnLst/>
              <a:rect l="l" t="t" r="r" b="b"/>
              <a:pathLst>
                <a:path w="19217413" h="823603">
                  <a:moveTo>
                    <a:pt x="0" y="0"/>
                  </a:moveTo>
                  <a:lnTo>
                    <a:pt x="19217413" y="0"/>
                  </a:lnTo>
                  <a:lnTo>
                    <a:pt x="19217413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4650" b="-40465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19217411" cy="8331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3"/>
                </a:lnSpc>
              </a:pPr>
              <a:r>
                <a:rPr lang="en-US" sz="3752" b="1">
                  <a:solidFill>
                    <a:srgbClr val="1232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10. 구현 핵심 포인트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33421" y="1125588"/>
            <a:ext cx="13452186" cy="343167"/>
            <a:chOff x="0" y="0"/>
            <a:chExt cx="17936248" cy="4575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936252" cy="457557"/>
            </a:xfrm>
            <a:custGeom>
              <a:avLst/>
              <a:gdLst/>
              <a:ahLst/>
              <a:cxnLst/>
              <a:rect l="l" t="t" r="r" b="b"/>
              <a:pathLst>
                <a:path w="17936252" h="457557">
                  <a:moveTo>
                    <a:pt x="0" y="0"/>
                  </a:moveTo>
                  <a:lnTo>
                    <a:pt x="17936252" y="0"/>
                  </a:lnTo>
                  <a:lnTo>
                    <a:pt x="17936252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3813" b="-713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7936248" cy="4575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11"/>
                </a:lnSpc>
              </a:pPr>
              <a:r>
                <a:rPr lang="en-US" sz="1426">
                  <a:solidFill>
                    <a:srgbClr val="5C6670"/>
                  </a:solidFill>
                  <a:latin typeface="Noto Sans"/>
                  <a:ea typeface="Noto Sans"/>
                  <a:cs typeface="Noto Sans"/>
                  <a:sym typeface="Noto Sans"/>
                </a:rPr>
                <a:t>코드에서 강조할 만한 부분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82701" y="1472956"/>
            <a:ext cx="1666275" cy="87697"/>
            <a:chOff x="0" y="0"/>
            <a:chExt cx="2221700" cy="1169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21738" cy="116967"/>
            </a:xfrm>
            <a:custGeom>
              <a:avLst/>
              <a:gdLst/>
              <a:ahLst/>
              <a:cxnLst/>
              <a:rect l="l" t="t" r="r" b="b"/>
              <a:pathLst>
                <a:path w="2221738" h="116967">
                  <a:moveTo>
                    <a:pt x="0" y="0"/>
                  </a:moveTo>
                  <a:lnTo>
                    <a:pt x="2221738" y="0"/>
                  </a:lnTo>
                  <a:lnTo>
                    <a:pt x="2221738" y="116967"/>
                  </a:lnTo>
                  <a:lnTo>
                    <a:pt x="0" y="116967"/>
                  </a:lnTo>
                  <a:close/>
                </a:path>
              </a:pathLst>
            </a:custGeom>
            <a:solidFill>
              <a:srgbClr val="16B3C7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6952500" y="9677343"/>
            <a:ext cx="549069" cy="343167"/>
            <a:chOff x="0" y="0"/>
            <a:chExt cx="732092" cy="45755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32092" cy="457557"/>
            </a:xfrm>
            <a:custGeom>
              <a:avLst/>
              <a:gdLst/>
              <a:ahLst/>
              <a:cxnLst/>
              <a:rect l="l" t="t" r="r" b="b"/>
              <a:pathLst>
                <a:path w="732092" h="457557">
                  <a:moveTo>
                    <a:pt x="0" y="0"/>
                  </a:moveTo>
                  <a:lnTo>
                    <a:pt x="732092" y="0"/>
                  </a:lnTo>
                  <a:lnTo>
                    <a:pt x="732092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r="-30189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732092" cy="4670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1"/>
                </a:lnSpc>
              </a:pPr>
              <a:r>
                <a:rPr lang="en-US" sz="1275">
                  <a:solidFill>
                    <a:srgbClr val="5C6670"/>
                  </a:solidFill>
                  <a:latin typeface="Noto Sans"/>
                  <a:ea typeface="Noto Sans"/>
                  <a:cs typeface="Noto Sans"/>
                  <a:sym typeface="Noto Sans"/>
                </a:rPr>
                <a:t>11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92235" y="9677343"/>
            <a:ext cx="5490686" cy="343167"/>
            <a:chOff x="0" y="0"/>
            <a:chExt cx="7320915" cy="45755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320920" cy="457557"/>
            </a:xfrm>
            <a:custGeom>
              <a:avLst/>
              <a:gdLst/>
              <a:ahLst/>
              <a:cxnLst/>
              <a:rect l="l" t="t" r="r" b="b"/>
              <a:pathLst>
                <a:path w="7320920" h="457557">
                  <a:moveTo>
                    <a:pt x="0" y="0"/>
                  </a:moveTo>
                  <a:lnTo>
                    <a:pt x="7320920" y="0"/>
                  </a:lnTo>
                  <a:lnTo>
                    <a:pt x="7320920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1760" b="-261760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7320915" cy="4670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1"/>
                </a:lnSpc>
              </a:pPr>
              <a:r>
                <a:rPr lang="en-US" sz="1275">
                  <a:solidFill>
                    <a:srgbClr val="7A8793"/>
                  </a:solidFill>
                  <a:latin typeface="Noto Sans"/>
                  <a:ea typeface="Noto Sans"/>
                  <a:cs typeface="Noto Sans"/>
                  <a:sym typeface="Noto Sans"/>
                </a:rPr>
                <a:t>Acrylic Panel Custom Order System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57240" y="1980838"/>
            <a:ext cx="7637393" cy="2009442"/>
            <a:chOff x="0" y="0"/>
            <a:chExt cx="10183190" cy="267925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183240" cy="2679319"/>
            </a:xfrm>
            <a:custGeom>
              <a:avLst/>
              <a:gdLst/>
              <a:ahLst/>
              <a:cxnLst/>
              <a:rect l="l" t="t" r="r" b="b"/>
              <a:pathLst>
                <a:path w="10183240" h="2679319">
                  <a:moveTo>
                    <a:pt x="0" y="110871"/>
                  </a:moveTo>
                  <a:cubicBezTo>
                    <a:pt x="0" y="49657"/>
                    <a:pt x="49657" y="0"/>
                    <a:pt x="110871" y="0"/>
                  </a:cubicBezTo>
                  <a:lnTo>
                    <a:pt x="10072370" y="0"/>
                  </a:lnTo>
                  <a:cubicBezTo>
                    <a:pt x="10133584" y="0"/>
                    <a:pt x="10183240" y="49657"/>
                    <a:pt x="10183240" y="110871"/>
                  </a:cubicBezTo>
                  <a:lnTo>
                    <a:pt x="10183240" y="2568448"/>
                  </a:lnTo>
                  <a:cubicBezTo>
                    <a:pt x="10183240" y="2629662"/>
                    <a:pt x="10133584" y="2679319"/>
                    <a:pt x="10072370" y="2679319"/>
                  </a:cubicBezTo>
                  <a:lnTo>
                    <a:pt x="110871" y="2679319"/>
                  </a:lnTo>
                  <a:cubicBezTo>
                    <a:pt x="49657" y="2679319"/>
                    <a:pt x="0" y="2629662"/>
                    <a:pt x="0" y="256844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16B3C7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1647206" y="2292363"/>
            <a:ext cx="2127647" cy="411804"/>
            <a:chOff x="0" y="0"/>
            <a:chExt cx="2836862" cy="54907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836856" cy="549069"/>
            </a:xfrm>
            <a:custGeom>
              <a:avLst/>
              <a:gdLst/>
              <a:ahLst/>
              <a:cxnLst/>
              <a:rect l="l" t="t" r="r" b="b"/>
              <a:pathLst>
                <a:path w="2836856" h="549069">
                  <a:moveTo>
                    <a:pt x="0" y="0"/>
                  </a:moveTo>
                  <a:lnTo>
                    <a:pt x="2836856" y="0"/>
                  </a:lnTo>
                  <a:lnTo>
                    <a:pt x="283685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672" b="-50673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2836862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2"/>
                </a:lnSpc>
              </a:pPr>
              <a:r>
                <a:rPr lang="en-US" sz="2476" b="1">
                  <a:solidFill>
                    <a:srgbClr val="16B3C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견적 공식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647206" y="2978696"/>
            <a:ext cx="6520196" cy="576520"/>
            <a:chOff x="0" y="0"/>
            <a:chExt cx="8693594" cy="76869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693592" cy="768697"/>
            </a:xfrm>
            <a:custGeom>
              <a:avLst/>
              <a:gdLst/>
              <a:ahLst/>
              <a:cxnLst/>
              <a:rect l="l" t="t" r="r" b="b"/>
              <a:pathLst>
                <a:path w="8693592" h="768697">
                  <a:moveTo>
                    <a:pt x="0" y="0"/>
                  </a:moveTo>
                  <a:lnTo>
                    <a:pt x="8693592" y="0"/>
                  </a:lnTo>
                  <a:lnTo>
                    <a:pt x="8693592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0366" b="-170366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8693594" cy="7782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1"/>
                </a:lnSpc>
              </a:pPr>
              <a:r>
                <a:rPr lang="en-US" sz="2026">
                  <a:solidFill>
                    <a:srgbClr val="0B1720"/>
                  </a:solidFill>
                  <a:latin typeface="Noto Sans"/>
                  <a:ea typeface="Noto Sans"/>
                  <a:cs typeface="Noto Sans"/>
                  <a:sym typeface="Noto Sans"/>
                </a:rPr>
                <a:t>기본단가 × 가로 × 세로 × 두께배율 × 수량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30544" y="1980838"/>
            <a:ext cx="7637393" cy="2009442"/>
            <a:chOff x="0" y="0"/>
            <a:chExt cx="10183190" cy="267925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183240" cy="2679319"/>
            </a:xfrm>
            <a:custGeom>
              <a:avLst/>
              <a:gdLst/>
              <a:ahLst/>
              <a:cxnLst/>
              <a:rect l="l" t="t" r="r" b="b"/>
              <a:pathLst>
                <a:path w="10183240" h="2679319">
                  <a:moveTo>
                    <a:pt x="0" y="110871"/>
                  </a:moveTo>
                  <a:cubicBezTo>
                    <a:pt x="0" y="49657"/>
                    <a:pt x="49657" y="0"/>
                    <a:pt x="110871" y="0"/>
                  </a:cubicBezTo>
                  <a:lnTo>
                    <a:pt x="10072370" y="0"/>
                  </a:lnTo>
                  <a:cubicBezTo>
                    <a:pt x="10133584" y="0"/>
                    <a:pt x="10183240" y="49657"/>
                    <a:pt x="10183240" y="110871"/>
                  </a:cubicBezTo>
                  <a:lnTo>
                    <a:pt x="10183240" y="2568448"/>
                  </a:lnTo>
                  <a:cubicBezTo>
                    <a:pt x="10183240" y="2629662"/>
                    <a:pt x="10133584" y="2679319"/>
                    <a:pt x="10072370" y="2679319"/>
                  </a:cubicBezTo>
                  <a:lnTo>
                    <a:pt x="110871" y="2679319"/>
                  </a:lnTo>
                  <a:cubicBezTo>
                    <a:pt x="49657" y="2679319"/>
                    <a:pt x="0" y="2629662"/>
                    <a:pt x="0" y="256844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4CA66A"/>
              </a:solidFill>
              <a:prstDash val="solid"/>
              <a:miter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10020510" y="2292363"/>
            <a:ext cx="2127647" cy="411804"/>
            <a:chOff x="0" y="0"/>
            <a:chExt cx="2836862" cy="54907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836856" cy="549069"/>
            </a:xfrm>
            <a:custGeom>
              <a:avLst/>
              <a:gdLst/>
              <a:ahLst/>
              <a:cxnLst/>
              <a:rect l="l" t="t" r="r" b="b"/>
              <a:pathLst>
                <a:path w="2836856" h="549069">
                  <a:moveTo>
                    <a:pt x="0" y="0"/>
                  </a:moveTo>
                  <a:lnTo>
                    <a:pt x="2836856" y="0"/>
                  </a:lnTo>
                  <a:lnTo>
                    <a:pt x="283685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672" b="-50673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0"/>
              <a:ext cx="2836862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2"/>
                </a:lnSpc>
              </a:pPr>
              <a:r>
                <a:rPr lang="en-US" sz="2476" b="1">
                  <a:solidFill>
                    <a:srgbClr val="4CA66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자동 생성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0020510" y="2978696"/>
            <a:ext cx="6520196" cy="576520"/>
            <a:chOff x="0" y="0"/>
            <a:chExt cx="8693594" cy="768693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693592" cy="768697"/>
            </a:xfrm>
            <a:custGeom>
              <a:avLst/>
              <a:gdLst/>
              <a:ahLst/>
              <a:cxnLst/>
              <a:rect l="l" t="t" r="r" b="b"/>
              <a:pathLst>
                <a:path w="8693592" h="768697">
                  <a:moveTo>
                    <a:pt x="0" y="0"/>
                  </a:moveTo>
                  <a:lnTo>
                    <a:pt x="8693592" y="0"/>
                  </a:lnTo>
                  <a:lnTo>
                    <a:pt x="8693592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0366" b="-170366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9525"/>
              <a:ext cx="8693594" cy="7782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1"/>
                </a:lnSpc>
              </a:pPr>
              <a:r>
                <a:rPr lang="en-US" sz="2026">
                  <a:solidFill>
                    <a:srgbClr val="0B1720"/>
                  </a:solidFill>
                  <a:latin typeface="Noto Sans"/>
                  <a:ea typeface="Noto Sans"/>
                  <a:cs typeface="Noto Sans"/>
                  <a:sym typeface="Noto Sans"/>
                </a:rPr>
                <a:t>회원번호 기준 장바구니, 항목번호, 주문번호, 주문일자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57240" y="4726191"/>
            <a:ext cx="7637393" cy="2009442"/>
            <a:chOff x="0" y="0"/>
            <a:chExt cx="10183190" cy="267925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0183240" cy="2679319"/>
            </a:xfrm>
            <a:custGeom>
              <a:avLst/>
              <a:gdLst/>
              <a:ahLst/>
              <a:cxnLst/>
              <a:rect l="l" t="t" r="r" b="b"/>
              <a:pathLst>
                <a:path w="10183240" h="2679319">
                  <a:moveTo>
                    <a:pt x="0" y="110871"/>
                  </a:moveTo>
                  <a:cubicBezTo>
                    <a:pt x="0" y="49657"/>
                    <a:pt x="49657" y="0"/>
                    <a:pt x="110871" y="0"/>
                  </a:cubicBezTo>
                  <a:lnTo>
                    <a:pt x="10072370" y="0"/>
                  </a:lnTo>
                  <a:cubicBezTo>
                    <a:pt x="10133584" y="0"/>
                    <a:pt x="10183240" y="49657"/>
                    <a:pt x="10183240" y="110871"/>
                  </a:cubicBezTo>
                  <a:lnTo>
                    <a:pt x="10183240" y="2568448"/>
                  </a:lnTo>
                  <a:cubicBezTo>
                    <a:pt x="10183240" y="2629662"/>
                    <a:pt x="10133584" y="2679319"/>
                    <a:pt x="10072370" y="2679319"/>
                  </a:cubicBezTo>
                  <a:lnTo>
                    <a:pt x="110871" y="2679319"/>
                  </a:lnTo>
                  <a:cubicBezTo>
                    <a:pt x="49657" y="2679319"/>
                    <a:pt x="0" y="2629662"/>
                    <a:pt x="0" y="256844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F3B03E"/>
              </a:solidFill>
              <a:prstDash val="solid"/>
              <a:miter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1647206" y="5037706"/>
            <a:ext cx="2127647" cy="411804"/>
            <a:chOff x="0" y="0"/>
            <a:chExt cx="2836862" cy="54907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836856" cy="549069"/>
            </a:xfrm>
            <a:custGeom>
              <a:avLst/>
              <a:gdLst/>
              <a:ahLst/>
              <a:cxnLst/>
              <a:rect l="l" t="t" r="r" b="b"/>
              <a:pathLst>
                <a:path w="2836856" h="549069">
                  <a:moveTo>
                    <a:pt x="0" y="0"/>
                  </a:moveTo>
                  <a:lnTo>
                    <a:pt x="2836856" y="0"/>
                  </a:lnTo>
                  <a:lnTo>
                    <a:pt x="283685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672" b="-50673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0"/>
              <a:ext cx="2836862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2"/>
                </a:lnSpc>
              </a:pPr>
              <a:r>
                <a:rPr lang="en-US" sz="2476" b="1">
                  <a:solidFill>
                    <a:srgbClr val="F3B03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상태 제어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647206" y="5724039"/>
            <a:ext cx="6520196" cy="576520"/>
            <a:chOff x="0" y="0"/>
            <a:chExt cx="8693594" cy="768693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693592" cy="768697"/>
            </a:xfrm>
            <a:custGeom>
              <a:avLst/>
              <a:gdLst/>
              <a:ahLst/>
              <a:cxnLst/>
              <a:rect l="l" t="t" r="r" b="b"/>
              <a:pathLst>
                <a:path w="8693592" h="768697">
                  <a:moveTo>
                    <a:pt x="0" y="0"/>
                  </a:moveTo>
                  <a:lnTo>
                    <a:pt x="8693592" y="0"/>
                  </a:lnTo>
                  <a:lnTo>
                    <a:pt x="8693592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0366" b="-170366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9525"/>
              <a:ext cx="8693594" cy="7782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1"/>
                </a:lnSpc>
              </a:pPr>
              <a:r>
                <a:rPr lang="en-US" sz="2026">
                  <a:solidFill>
                    <a:srgbClr val="0B1720"/>
                  </a:solidFill>
                  <a:latin typeface="Noto Sans"/>
                  <a:ea typeface="Noto Sans"/>
                  <a:cs typeface="Noto Sans"/>
                  <a:sym typeface="Noto Sans"/>
                </a:rPr>
                <a:t>주문접수 상태에서만 취소 가능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530544" y="4726191"/>
            <a:ext cx="7637393" cy="2009442"/>
            <a:chOff x="0" y="0"/>
            <a:chExt cx="10183190" cy="267925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0183240" cy="2679319"/>
            </a:xfrm>
            <a:custGeom>
              <a:avLst/>
              <a:gdLst/>
              <a:ahLst/>
              <a:cxnLst/>
              <a:rect l="l" t="t" r="r" b="b"/>
              <a:pathLst>
                <a:path w="10183240" h="2679319">
                  <a:moveTo>
                    <a:pt x="0" y="110871"/>
                  </a:moveTo>
                  <a:cubicBezTo>
                    <a:pt x="0" y="49657"/>
                    <a:pt x="49657" y="0"/>
                    <a:pt x="110871" y="0"/>
                  </a:cubicBezTo>
                  <a:lnTo>
                    <a:pt x="10072370" y="0"/>
                  </a:lnTo>
                  <a:cubicBezTo>
                    <a:pt x="10133584" y="0"/>
                    <a:pt x="10183240" y="49657"/>
                    <a:pt x="10183240" y="110871"/>
                  </a:cubicBezTo>
                  <a:lnTo>
                    <a:pt x="10183240" y="2568448"/>
                  </a:lnTo>
                  <a:cubicBezTo>
                    <a:pt x="10183240" y="2629662"/>
                    <a:pt x="10133584" y="2679319"/>
                    <a:pt x="10072370" y="2679319"/>
                  </a:cubicBezTo>
                  <a:lnTo>
                    <a:pt x="110871" y="2679319"/>
                  </a:lnTo>
                  <a:cubicBezTo>
                    <a:pt x="49657" y="2679319"/>
                    <a:pt x="0" y="2629662"/>
                    <a:pt x="0" y="256844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F26C63"/>
              </a:solidFill>
              <a:prstDash val="solid"/>
              <a:miter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10020510" y="5037706"/>
            <a:ext cx="2127647" cy="411804"/>
            <a:chOff x="0" y="0"/>
            <a:chExt cx="2836862" cy="54907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836856" cy="549069"/>
            </a:xfrm>
            <a:custGeom>
              <a:avLst/>
              <a:gdLst/>
              <a:ahLst/>
              <a:cxnLst/>
              <a:rect l="l" t="t" r="r" b="b"/>
              <a:pathLst>
                <a:path w="2836856" h="549069">
                  <a:moveTo>
                    <a:pt x="0" y="0"/>
                  </a:moveTo>
                  <a:lnTo>
                    <a:pt x="2836856" y="0"/>
                  </a:lnTo>
                  <a:lnTo>
                    <a:pt x="283685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672" b="-50673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0"/>
              <a:ext cx="2836862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2"/>
                </a:lnSpc>
              </a:pPr>
              <a:r>
                <a:rPr lang="en-US" sz="2476" b="1">
                  <a:solidFill>
                    <a:srgbClr val="F26C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재고 관리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0020510" y="5724039"/>
            <a:ext cx="6520196" cy="576520"/>
            <a:chOff x="0" y="0"/>
            <a:chExt cx="8693594" cy="768693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693592" cy="768697"/>
            </a:xfrm>
            <a:custGeom>
              <a:avLst/>
              <a:gdLst/>
              <a:ahLst/>
              <a:cxnLst/>
              <a:rect l="l" t="t" r="r" b="b"/>
              <a:pathLst>
                <a:path w="8693592" h="768697">
                  <a:moveTo>
                    <a:pt x="0" y="0"/>
                  </a:moveTo>
                  <a:lnTo>
                    <a:pt x="8693592" y="0"/>
                  </a:lnTo>
                  <a:lnTo>
                    <a:pt x="8693592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0366" b="-170366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9525"/>
              <a:ext cx="8693594" cy="7782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1"/>
                </a:lnSpc>
              </a:pPr>
              <a:r>
                <a:rPr lang="en-US" sz="2026">
                  <a:solidFill>
                    <a:srgbClr val="0B1720"/>
                  </a:solidFill>
                  <a:latin typeface="Noto Sans"/>
                  <a:ea typeface="Noto Sans"/>
                  <a:cs typeface="Noto Sans"/>
                  <a:sym typeface="Noto Sans"/>
                </a:rPr>
                <a:t>주문 시 차감, 취소 시 복구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363142" y="7897063"/>
            <a:ext cx="15461628" cy="1117206"/>
            <a:chOff x="0" y="0"/>
            <a:chExt cx="20615504" cy="1489608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0615529" cy="1489710"/>
            </a:xfrm>
            <a:custGeom>
              <a:avLst/>
              <a:gdLst/>
              <a:ahLst/>
              <a:cxnLst/>
              <a:rect l="l" t="t" r="r" b="b"/>
              <a:pathLst>
                <a:path w="20615529" h="1489710">
                  <a:moveTo>
                    <a:pt x="0" y="111760"/>
                  </a:moveTo>
                  <a:cubicBezTo>
                    <a:pt x="0" y="50038"/>
                    <a:pt x="50038" y="0"/>
                    <a:pt x="111760" y="0"/>
                  </a:cubicBezTo>
                  <a:lnTo>
                    <a:pt x="20503769" y="0"/>
                  </a:lnTo>
                  <a:cubicBezTo>
                    <a:pt x="20565490" y="0"/>
                    <a:pt x="20615529" y="50038"/>
                    <a:pt x="20615529" y="111760"/>
                  </a:cubicBezTo>
                  <a:lnTo>
                    <a:pt x="20615529" y="1377950"/>
                  </a:lnTo>
                  <a:cubicBezTo>
                    <a:pt x="20615529" y="1439672"/>
                    <a:pt x="20565490" y="1489710"/>
                    <a:pt x="20503769" y="1489710"/>
                  </a:cubicBezTo>
                  <a:lnTo>
                    <a:pt x="111760" y="1489710"/>
                  </a:lnTo>
                  <a:cubicBezTo>
                    <a:pt x="50038" y="1489710"/>
                    <a:pt x="0" y="1439672"/>
                    <a:pt x="0" y="1377950"/>
                  </a:cubicBezTo>
                  <a:close/>
                </a:path>
              </a:pathLst>
            </a:custGeom>
            <a:solidFill>
              <a:srgbClr val="D8ECFF"/>
            </a:solidFill>
            <a:ln w="19065" cap="sq">
              <a:solidFill>
                <a:srgbClr val="2D6CDF"/>
              </a:solidFill>
              <a:prstDash val="solid"/>
              <a:miter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1715843" y="8277215"/>
            <a:ext cx="14756225" cy="343167"/>
            <a:chOff x="0" y="0"/>
            <a:chExt cx="19674967" cy="457556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9674971" cy="457557"/>
            </a:xfrm>
            <a:custGeom>
              <a:avLst/>
              <a:gdLst/>
              <a:ahLst/>
              <a:cxnLst/>
              <a:rect l="l" t="t" r="r" b="b"/>
              <a:pathLst>
                <a:path w="19674971" h="457557">
                  <a:moveTo>
                    <a:pt x="0" y="0"/>
                  </a:moveTo>
                  <a:lnTo>
                    <a:pt x="19674971" y="0"/>
                  </a:lnTo>
                  <a:lnTo>
                    <a:pt x="19674971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7856" b="-787856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-9525"/>
              <a:ext cx="19674967" cy="4670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31"/>
                </a:lnSpc>
              </a:pPr>
              <a:r>
                <a:rPr lang="en-US" sz="2026" b="1">
                  <a:solidFill>
                    <a:srgbClr val="1232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입력값은 숫자·양수 여부를 검증하고, 색상과 두께는 허용된 옵션만 선택하도록 제한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35" y="-9535"/>
            <a:ext cx="18320909" cy="183785"/>
            <a:chOff x="0" y="0"/>
            <a:chExt cx="24427878" cy="2450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27814" cy="245110"/>
            </a:xfrm>
            <a:custGeom>
              <a:avLst/>
              <a:gdLst/>
              <a:ahLst/>
              <a:cxnLst/>
              <a:rect l="l" t="t" r="r" b="b"/>
              <a:pathLst>
                <a:path w="24427814" h="245110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16B3C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892235" y="480431"/>
            <a:ext cx="14413059" cy="617706"/>
            <a:chOff x="0" y="0"/>
            <a:chExt cx="19217411" cy="82360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217413" cy="823603"/>
            </a:xfrm>
            <a:custGeom>
              <a:avLst/>
              <a:gdLst/>
              <a:ahLst/>
              <a:cxnLst/>
              <a:rect l="l" t="t" r="r" b="b"/>
              <a:pathLst>
                <a:path w="19217413" h="823603">
                  <a:moveTo>
                    <a:pt x="0" y="0"/>
                  </a:moveTo>
                  <a:lnTo>
                    <a:pt x="19217413" y="0"/>
                  </a:lnTo>
                  <a:lnTo>
                    <a:pt x="19217413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4650" b="-40465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19217411" cy="8331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3"/>
                </a:lnSpc>
              </a:pPr>
              <a:r>
                <a:rPr lang="en-US" sz="3752" b="1">
                  <a:solidFill>
                    <a:srgbClr val="1232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11. 미구현 및 향후 개선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33421" y="1125588"/>
            <a:ext cx="13452186" cy="343167"/>
            <a:chOff x="0" y="0"/>
            <a:chExt cx="17936248" cy="4575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936252" cy="457557"/>
            </a:xfrm>
            <a:custGeom>
              <a:avLst/>
              <a:gdLst/>
              <a:ahLst/>
              <a:cxnLst/>
              <a:rect l="l" t="t" r="r" b="b"/>
              <a:pathLst>
                <a:path w="17936252" h="457557">
                  <a:moveTo>
                    <a:pt x="0" y="0"/>
                  </a:moveTo>
                  <a:lnTo>
                    <a:pt x="17936252" y="0"/>
                  </a:lnTo>
                  <a:lnTo>
                    <a:pt x="17936252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3813" b="-713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7936248" cy="4575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11"/>
                </a:lnSpc>
              </a:pPr>
              <a:r>
                <a:rPr lang="en-US" sz="1426">
                  <a:solidFill>
                    <a:srgbClr val="5C6670"/>
                  </a:solidFill>
                  <a:latin typeface="Noto Sans"/>
                  <a:ea typeface="Noto Sans"/>
                  <a:cs typeface="Noto Sans"/>
                  <a:sym typeface="Noto Sans"/>
                </a:rPr>
                <a:t>현재 범위 밖이지만 확장 가능한 기능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82701" y="1472956"/>
            <a:ext cx="1666275" cy="87697"/>
            <a:chOff x="0" y="0"/>
            <a:chExt cx="2221700" cy="1169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21738" cy="116967"/>
            </a:xfrm>
            <a:custGeom>
              <a:avLst/>
              <a:gdLst/>
              <a:ahLst/>
              <a:cxnLst/>
              <a:rect l="l" t="t" r="r" b="b"/>
              <a:pathLst>
                <a:path w="2221738" h="116967">
                  <a:moveTo>
                    <a:pt x="0" y="0"/>
                  </a:moveTo>
                  <a:lnTo>
                    <a:pt x="2221738" y="0"/>
                  </a:lnTo>
                  <a:lnTo>
                    <a:pt x="2221738" y="116967"/>
                  </a:lnTo>
                  <a:lnTo>
                    <a:pt x="0" y="116967"/>
                  </a:lnTo>
                  <a:close/>
                </a:path>
              </a:pathLst>
            </a:custGeom>
            <a:solidFill>
              <a:srgbClr val="16B3C7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6952500" y="9677343"/>
            <a:ext cx="549069" cy="343167"/>
            <a:chOff x="0" y="0"/>
            <a:chExt cx="732092" cy="45755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32092" cy="457557"/>
            </a:xfrm>
            <a:custGeom>
              <a:avLst/>
              <a:gdLst/>
              <a:ahLst/>
              <a:cxnLst/>
              <a:rect l="l" t="t" r="r" b="b"/>
              <a:pathLst>
                <a:path w="732092" h="457557">
                  <a:moveTo>
                    <a:pt x="0" y="0"/>
                  </a:moveTo>
                  <a:lnTo>
                    <a:pt x="732092" y="0"/>
                  </a:lnTo>
                  <a:lnTo>
                    <a:pt x="732092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r="-30189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732092" cy="4670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1"/>
                </a:lnSpc>
              </a:pPr>
              <a:r>
                <a:rPr lang="en-US" sz="1275">
                  <a:solidFill>
                    <a:srgbClr val="5C6670"/>
                  </a:solidFill>
                  <a:latin typeface="Noto Sans"/>
                  <a:ea typeface="Noto Sans"/>
                  <a:cs typeface="Noto Sans"/>
                  <a:sym typeface="Noto Sans"/>
                </a:rPr>
                <a:t>12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92235" y="9677343"/>
            <a:ext cx="5490686" cy="343167"/>
            <a:chOff x="0" y="0"/>
            <a:chExt cx="7320915" cy="45755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320920" cy="457557"/>
            </a:xfrm>
            <a:custGeom>
              <a:avLst/>
              <a:gdLst/>
              <a:ahLst/>
              <a:cxnLst/>
              <a:rect l="l" t="t" r="r" b="b"/>
              <a:pathLst>
                <a:path w="7320920" h="457557">
                  <a:moveTo>
                    <a:pt x="0" y="0"/>
                  </a:moveTo>
                  <a:lnTo>
                    <a:pt x="7320920" y="0"/>
                  </a:lnTo>
                  <a:lnTo>
                    <a:pt x="7320920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1760" b="-261760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7320915" cy="4670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1"/>
                </a:lnSpc>
              </a:pPr>
              <a:r>
                <a:rPr lang="en-US" sz="1275">
                  <a:solidFill>
                    <a:srgbClr val="7A8793"/>
                  </a:solidFill>
                  <a:latin typeface="Noto Sans"/>
                  <a:ea typeface="Noto Sans"/>
                  <a:cs typeface="Noto Sans"/>
                  <a:sym typeface="Noto Sans"/>
                </a:rPr>
                <a:t>Acrylic Panel Custom Order System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94505" y="2118112"/>
            <a:ext cx="7362863" cy="1995716"/>
            <a:chOff x="0" y="0"/>
            <a:chExt cx="9817151" cy="266095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817100" cy="2660904"/>
            </a:xfrm>
            <a:custGeom>
              <a:avLst/>
              <a:gdLst/>
              <a:ahLst/>
              <a:cxnLst/>
              <a:rect l="l" t="t" r="r" b="b"/>
              <a:pathLst>
                <a:path w="9817100" h="2660904">
                  <a:moveTo>
                    <a:pt x="0" y="110871"/>
                  </a:moveTo>
                  <a:cubicBezTo>
                    <a:pt x="0" y="49657"/>
                    <a:pt x="49657" y="0"/>
                    <a:pt x="110871" y="0"/>
                  </a:cubicBezTo>
                  <a:lnTo>
                    <a:pt x="9706229" y="0"/>
                  </a:lnTo>
                  <a:cubicBezTo>
                    <a:pt x="9767570" y="0"/>
                    <a:pt x="9817100" y="49657"/>
                    <a:pt x="9817100" y="110871"/>
                  </a:cubicBezTo>
                  <a:lnTo>
                    <a:pt x="9817100" y="2550033"/>
                  </a:lnTo>
                  <a:cubicBezTo>
                    <a:pt x="9817100" y="2611247"/>
                    <a:pt x="9767443" y="2660904"/>
                    <a:pt x="9706229" y="2660904"/>
                  </a:cubicBezTo>
                  <a:lnTo>
                    <a:pt x="110871" y="2660904"/>
                  </a:lnTo>
                  <a:cubicBezTo>
                    <a:pt x="49657" y="2660904"/>
                    <a:pt x="0" y="2611247"/>
                    <a:pt x="0" y="2550033"/>
                  </a:cubicBezTo>
                  <a:close/>
                </a:path>
              </a:pathLst>
            </a:custGeom>
            <a:solidFill>
              <a:srgbClr val="FFF1C7"/>
            </a:solidFill>
            <a:ln w="19065" cap="sq">
              <a:solidFill>
                <a:srgbClr val="F3B03E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1784471" y="2457088"/>
            <a:ext cx="3294412" cy="411804"/>
            <a:chOff x="0" y="0"/>
            <a:chExt cx="4392549" cy="54907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392552" cy="549069"/>
            </a:xfrm>
            <a:custGeom>
              <a:avLst/>
              <a:gdLst/>
              <a:ahLst/>
              <a:cxnLst/>
              <a:rect l="l" t="t" r="r" b="b"/>
              <a:pathLst>
                <a:path w="4392552" h="549069">
                  <a:moveTo>
                    <a:pt x="0" y="0"/>
                  </a:moveTo>
                  <a:lnTo>
                    <a:pt x="4392552" y="0"/>
                  </a:lnTo>
                  <a:lnTo>
                    <a:pt x="4392552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879" b="-105880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4392549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2"/>
                </a:lnSpc>
              </a:pPr>
              <a:r>
                <a:rPr lang="en-US" sz="2551" b="1">
                  <a:solidFill>
                    <a:srgbClr val="1232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결제·영수증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784471" y="3198324"/>
            <a:ext cx="6039755" cy="411804"/>
            <a:chOff x="0" y="0"/>
            <a:chExt cx="8053006" cy="54907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053012" cy="549069"/>
            </a:xfrm>
            <a:custGeom>
              <a:avLst/>
              <a:gdLst/>
              <a:ahLst/>
              <a:cxnLst/>
              <a:rect l="l" t="t" r="r" b="b"/>
              <a:pathLst>
                <a:path w="8053012" h="549069">
                  <a:moveTo>
                    <a:pt x="0" y="0"/>
                  </a:moveTo>
                  <a:lnTo>
                    <a:pt x="8053012" y="0"/>
                  </a:lnTo>
                  <a:lnTo>
                    <a:pt x="8053012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5780" b="-235780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8053006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05"/>
                </a:lnSpc>
              </a:pPr>
              <a:r>
                <a:rPr lang="en-US" sz="1921">
                  <a:solidFill>
                    <a:srgbClr val="0B1720"/>
                  </a:solidFill>
                  <a:latin typeface="Noto Sans"/>
                  <a:ea typeface="Noto Sans"/>
                  <a:cs typeface="Noto Sans"/>
                  <a:sym typeface="Noto Sans"/>
                </a:rPr>
                <a:t>결제 기능, 쿠폰 적용, 영수증 출력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461906" y="2118112"/>
            <a:ext cx="7362863" cy="1995716"/>
            <a:chOff x="0" y="0"/>
            <a:chExt cx="9817151" cy="266095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817100" cy="2660904"/>
            </a:xfrm>
            <a:custGeom>
              <a:avLst/>
              <a:gdLst/>
              <a:ahLst/>
              <a:cxnLst/>
              <a:rect l="l" t="t" r="r" b="b"/>
              <a:pathLst>
                <a:path w="9817100" h="2660904">
                  <a:moveTo>
                    <a:pt x="0" y="110871"/>
                  </a:moveTo>
                  <a:cubicBezTo>
                    <a:pt x="0" y="49657"/>
                    <a:pt x="49657" y="0"/>
                    <a:pt x="110871" y="0"/>
                  </a:cubicBezTo>
                  <a:lnTo>
                    <a:pt x="9706229" y="0"/>
                  </a:lnTo>
                  <a:cubicBezTo>
                    <a:pt x="9767570" y="0"/>
                    <a:pt x="9817100" y="49657"/>
                    <a:pt x="9817100" y="110871"/>
                  </a:cubicBezTo>
                  <a:lnTo>
                    <a:pt x="9817100" y="2550033"/>
                  </a:lnTo>
                  <a:cubicBezTo>
                    <a:pt x="9817100" y="2611247"/>
                    <a:pt x="9767443" y="2660904"/>
                    <a:pt x="9706229" y="2660904"/>
                  </a:cubicBezTo>
                  <a:lnTo>
                    <a:pt x="110871" y="2660904"/>
                  </a:lnTo>
                  <a:cubicBezTo>
                    <a:pt x="49657" y="2660904"/>
                    <a:pt x="0" y="2611247"/>
                    <a:pt x="0" y="2550033"/>
                  </a:cubicBezTo>
                  <a:close/>
                </a:path>
              </a:pathLst>
            </a:custGeom>
            <a:solidFill>
              <a:srgbClr val="D8ECFF"/>
            </a:solidFill>
            <a:ln w="19065" cap="sq">
              <a:solidFill>
                <a:srgbClr val="2D6CDF"/>
              </a:solidFill>
              <a:prstDash val="solid"/>
              <a:miter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9951872" y="2457088"/>
            <a:ext cx="3294412" cy="411804"/>
            <a:chOff x="0" y="0"/>
            <a:chExt cx="4392549" cy="54907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392552" cy="549069"/>
            </a:xfrm>
            <a:custGeom>
              <a:avLst/>
              <a:gdLst/>
              <a:ahLst/>
              <a:cxnLst/>
              <a:rect l="l" t="t" r="r" b="b"/>
              <a:pathLst>
                <a:path w="4392552" h="549069">
                  <a:moveTo>
                    <a:pt x="0" y="0"/>
                  </a:moveTo>
                  <a:lnTo>
                    <a:pt x="4392552" y="0"/>
                  </a:lnTo>
                  <a:lnTo>
                    <a:pt x="4392552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879" b="-105880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0"/>
              <a:ext cx="4392549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2"/>
                </a:lnSpc>
              </a:pPr>
              <a:r>
                <a:rPr lang="en-US" sz="2551" b="1">
                  <a:solidFill>
                    <a:srgbClr val="1232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배송 고도화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951872" y="3198324"/>
            <a:ext cx="6039755" cy="411804"/>
            <a:chOff x="0" y="0"/>
            <a:chExt cx="8053006" cy="54907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053012" cy="549069"/>
            </a:xfrm>
            <a:custGeom>
              <a:avLst/>
              <a:gdLst/>
              <a:ahLst/>
              <a:cxnLst/>
              <a:rect l="l" t="t" r="r" b="b"/>
              <a:pathLst>
                <a:path w="8053012" h="549069">
                  <a:moveTo>
                    <a:pt x="0" y="0"/>
                  </a:moveTo>
                  <a:lnTo>
                    <a:pt x="8053012" y="0"/>
                  </a:lnTo>
                  <a:lnTo>
                    <a:pt x="8053012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5780" b="-235780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9525"/>
              <a:ext cx="8053006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05"/>
                </a:lnSpc>
              </a:pPr>
              <a:r>
                <a:rPr lang="en-US" sz="1921">
                  <a:solidFill>
                    <a:srgbClr val="0B1720"/>
                  </a:solidFill>
                  <a:latin typeface="Noto Sans"/>
                  <a:ea typeface="Noto Sans"/>
                  <a:cs typeface="Noto Sans"/>
                  <a:sym typeface="Noto Sans"/>
                </a:rPr>
                <a:t>운송장 번호, 택배사 선택, 변경 이력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294505" y="4932093"/>
            <a:ext cx="7362863" cy="1995716"/>
            <a:chOff x="0" y="0"/>
            <a:chExt cx="9817151" cy="2660955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817100" cy="2660904"/>
            </a:xfrm>
            <a:custGeom>
              <a:avLst/>
              <a:gdLst/>
              <a:ahLst/>
              <a:cxnLst/>
              <a:rect l="l" t="t" r="r" b="b"/>
              <a:pathLst>
                <a:path w="9817100" h="2660904">
                  <a:moveTo>
                    <a:pt x="0" y="110871"/>
                  </a:moveTo>
                  <a:cubicBezTo>
                    <a:pt x="0" y="49657"/>
                    <a:pt x="49657" y="0"/>
                    <a:pt x="110871" y="0"/>
                  </a:cubicBezTo>
                  <a:lnTo>
                    <a:pt x="9706229" y="0"/>
                  </a:lnTo>
                  <a:cubicBezTo>
                    <a:pt x="9767570" y="0"/>
                    <a:pt x="9817100" y="49657"/>
                    <a:pt x="9817100" y="110871"/>
                  </a:cubicBezTo>
                  <a:lnTo>
                    <a:pt x="9817100" y="2550033"/>
                  </a:lnTo>
                  <a:cubicBezTo>
                    <a:pt x="9817100" y="2611247"/>
                    <a:pt x="9767443" y="2660904"/>
                    <a:pt x="9706229" y="2660904"/>
                  </a:cubicBezTo>
                  <a:lnTo>
                    <a:pt x="110871" y="2660904"/>
                  </a:lnTo>
                  <a:cubicBezTo>
                    <a:pt x="49657" y="2660904"/>
                    <a:pt x="0" y="2611247"/>
                    <a:pt x="0" y="2550033"/>
                  </a:cubicBezTo>
                  <a:close/>
                </a:path>
              </a:pathLst>
            </a:custGeom>
            <a:solidFill>
              <a:srgbClr val="E6F7E8"/>
            </a:solidFill>
            <a:ln w="19065" cap="sq">
              <a:solidFill>
                <a:srgbClr val="4CA66A"/>
              </a:solidFill>
              <a:prstDash val="solid"/>
              <a:miter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1784471" y="5271059"/>
            <a:ext cx="3294412" cy="411804"/>
            <a:chOff x="0" y="0"/>
            <a:chExt cx="4392549" cy="54907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392552" cy="549069"/>
            </a:xfrm>
            <a:custGeom>
              <a:avLst/>
              <a:gdLst/>
              <a:ahLst/>
              <a:cxnLst/>
              <a:rect l="l" t="t" r="r" b="b"/>
              <a:pathLst>
                <a:path w="4392552" h="549069">
                  <a:moveTo>
                    <a:pt x="0" y="0"/>
                  </a:moveTo>
                  <a:lnTo>
                    <a:pt x="4392552" y="0"/>
                  </a:lnTo>
                  <a:lnTo>
                    <a:pt x="4392552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879" b="-105880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0"/>
              <a:ext cx="4392549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2"/>
                </a:lnSpc>
              </a:pPr>
              <a:r>
                <a:rPr lang="en-US" sz="2551" b="1">
                  <a:solidFill>
                    <a:srgbClr val="1232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상품 옵션 확장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784471" y="6012304"/>
            <a:ext cx="6039755" cy="411804"/>
            <a:chOff x="0" y="0"/>
            <a:chExt cx="8053006" cy="549072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053012" cy="549069"/>
            </a:xfrm>
            <a:custGeom>
              <a:avLst/>
              <a:gdLst/>
              <a:ahLst/>
              <a:cxnLst/>
              <a:rect l="l" t="t" r="r" b="b"/>
              <a:pathLst>
                <a:path w="8053012" h="549069">
                  <a:moveTo>
                    <a:pt x="0" y="0"/>
                  </a:moveTo>
                  <a:lnTo>
                    <a:pt x="8053012" y="0"/>
                  </a:lnTo>
                  <a:lnTo>
                    <a:pt x="8053012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5780" b="-235780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9525"/>
              <a:ext cx="8053006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05"/>
                </a:lnSpc>
              </a:pPr>
              <a:r>
                <a:rPr lang="en-US" sz="1900" dirty="0" err="1">
                  <a:solidFill>
                    <a:srgbClr val="0B1720"/>
                  </a:solidFill>
                  <a:latin typeface="Noto Sans"/>
                  <a:ea typeface="Noto Sans"/>
                  <a:cs typeface="Noto Sans"/>
                  <a:sym typeface="Noto Sans"/>
                </a:rPr>
                <a:t>모서리</a:t>
              </a:r>
              <a:r>
                <a:rPr lang="en-US" sz="1900" dirty="0">
                  <a:solidFill>
                    <a:srgbClr val="0B1720"/>
                  </a:solidFill>
                  <a:latin typeface="Noto Sans"/>
                  <a:ea typeface="Noto Sans"/>
                  <a:cs typeface="Noto Sans"/>
                  <a:sym typeface="Noto Sans"/>
                </a:rPr>
                <a:t> </a:t>
              </a:r>
              <a:r>
                <a:rPr lang="en-US" sz="1900" dirty="0" err="1">
                  <a:solidFill>
                    <a:srgbClr val="0B1720"/>
                  </a:solidFill>
                  <a:latin typeface="Noto Sans"/>
                  <a:ea typeface="Noto Sans"/>
                  <a:cs typeface="Noto Sans"/>
                  <a:sym typeface="Noto Sans"/>
                </a:rPr>
                <a:t>라운딩</a:t>
              </a:r>
              <a:r>
                <a:rPr lang="en-US" sz="1900" dirty="0">
                  <a:solidFill>
                    <a:srgbClr val="0B1720"/>
                  </a:solidFill>
                  <a:latin typeface="Noto Sans"/>
                  <a:ea typeface="Noto Sans"/>
                  <a:cs typeface="Noto Sans"/>
                  <a:sym typeface="Noto Sans"/>
                </a:rPr>
                <a:t>, </a:t>
              </a:r>
              <a:r>
                <a:rPr lang="ko-KR" altLang="en-US" sz="1900" dirty="0">
                  <a:solidFill>
                    <a:srgbClr val="0B1720"/>
                  </a:solidFill>
                  <a:latin typeface="Noto Sans"/>
                  <a:ea typeface="Noto Sans"/>
                  <a:cs typeface="Noto Sans"/>
                  <a:sym typeface="Noto Sans"/>
                </a:rPr>
                <a:t>기성품</a:t>
              </a:r>
              <a:r>
                <a:rPr lang="en-US" sz="1900" dirty="0">
                  <a:solidFill>
                    <a:srgbClr val="0B1720"/>
                  </a:solidFill>
                  <a:latin typeface="Noto Sans"/>
                  <a:ea typeface="Noto Sans"/>
                  <a:cs typeface="Noto Sans"/>
                  <a:sym typeface="Noto Sans"/>
                </a:rPr>
                <a:t>, </a:t>
              </a:r>
              <a:r>
                <a:rPr lang="en-US" sz="1900" dirty="0" err="1">
                  <a:solidFill>
                    <a:srgbClr val="0B1720"/>
                  </a:solidFill>
                  <a:latin typeface="Noto Sans"/>
                  <a:ea typeface="Noto Sans"/>
                  <a:cs typeface="Noto Sans"/>
                  <a:sym typeface="Noto Sans"/>
                </a:rPr>
                <a:t>색상별</a:t>
              </a:r>
              <a:r>
                <a:rPr lang="en-US" sz="1900" dirty="0">
                  <a:solidFill>
                    <a:srgbClr val="0B1720"/>
                  </a:solidFill>
                  <a:latin typeface="Noto Sans"/>
                  <a:ea typeface="Noto Sans"/>
                  <a:cs typeface="Noto Sans"/>
                  <a:sym typeface="Noto Sans"/>
                </a:rPr>
                <a:t> </a:t>
              </a:r>
              <a:r>
                <a:rPr lang="en-US" sz="1900" dirty="0" err="1">
                  <a:solidFill>
                    <a:srgbClr val="0B1720"/>
                  </a:solidFill>
                  <a:latin typeface="Noto Sans"/>
                  <a:ea typeface="Noto Sans"/>
                  <a:cs typeface="Noto Sans"/>
                  <a:sym typeface="Noto Sans"/>
                </a:rPr>
                <a:t>재고</a:t>
              </a:r>
              <a:endParaRPr lang="en-US" sz="1900" dirty="0" err="1">
                <a:solidFill>
                  <a:srgbClr val="0B1720"/>
                </a:solidFill>
                <a:latin typeface="Noto Sans"/>
                <a:ea typeface="Noto Sans"/>
                <a:cs typeface="Noto Sans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461906" y="4932093"/>
            <a:ext cx="7362863" cy="1995716"/>
            <a:chOff x="0" y="0"/>
            <a:chExt cx="9817151" cy="2660955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9817100" cy="2660904"/>
            </a:xfrm>
            <a:custGeom>
              <a:avLst/>
              <a:gdLst/>
              <a:ahLst/>
              <a:cxnLst/>
              <a:rect l="l" t="t" r="r" b="b"/>
              <a:pathLst>
                <a:path w="9817100" h="2660904">
                  <a:moveTo>
                    <a:pt x="0" y="110871"/>
                  </a:moveTo>
                  <a:cubicBezTo>
                    <a:pt x="0" y="49657"/>
                    <a:pt x="49657" y="0"/>
                    <a:pt x="110871" y="0"/>
                  </a:cubicBezTo>
                  <a:lnTo>
                    <a:pt x="9706229" y="0"/>
                  </a:lnTo>
                  <a:cubicBezTo>
                    <a:pt x="9767570" y="0"/>
                    <a:pt x="9817100" y="49657"/>
                    <a:pt x="9817100" y="110871"/>
                  </a:cubicBezTo>
                  <a:lnTo>
                    <a:pt x="9817100" y="2550033"/>
                  </a:lnTo>
                  <a:cubicBezTo>
                    <a:pt x="9817100" y="2611247"/>
                    <a:pt x="9767443" y="2660904"/>
                    <a:pt x="9706229" y="2660904"/>
                  </a:cubicBezTo>
                  <a:lnTo>
                    <a:pt x="110871" y="2660904"/>
                  </a:lnTo>
                  <a:cubicBezTo>
                    <a:pt x="49657" y="2660904"/>
                    <a:pt x="0" y="2611247"/>
                    <a:pt x="0" y="2550033"/>
                  </a:cubicBezTo>
                  <a:close/>
                </a:path>
              </a:pathLst>
            </a:custGeom>
            <a:solidFill>
              <a:srgbClr val="FFE2E2"/>
            </a:solidFill>
            <a:ln w="19065" cap="sq">
              <a:solidFill>
                <a:srgbClr val="F26C63"/>
              </a:solidFill>
              <a:prstDash val="solid"/>
              <a:miter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9951872" y="5271059"/>
            <a:ext cx="3294412" cy="411804"/>
            <a:chOff x="0" y="0"/>
            <a:chExt cx="4392549" cy="54907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392552" cy="549069"/>
            </a:xfrm>
            <a:custGeom>
              <a:avLst/>
              <a:gdLst/>
              <a:ahLst/>
              <a:cxnLst/>
              <a:rect l="l" t="t" r="r" b="b"/>
              <a:pathLst>
                <a:path w="4392552" h="549069">
                  <a:moveTo>
                    <a:pt x="0" y="0"/>
                  </a:moveTo>
                  <a:lnTo>
                    <a:pt x="4392552" y="0"/>
                  </a:lnTo>
                  <a:lnTo>
                    <a:pt x="4392552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879" b="-105880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0"/>
              <a:ext cx="4392549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2"/>
                </a:lnSpc>
              </a:pPr>
              <a:r>
                <a:rPr lang="en-US" sz="2551" b="1">
                  <a:solidFill>
                    <a:srgbClr val="1232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조회 편의성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951872" y="6012304"/>
            <a:ext cx="6039755" cy="411804"/>
            <a:chOff x="0" y="0"/>
            <a:chExt cx="8053006" cy="54907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053012" cy="549069"/>
            </a:xfrm>
            <a:custGeom>
              <a:avLst/>
              <a:gdLst/>
              <a:ahLst/>
              <a:cxnLst/>
              <a:rect l="l" t="t" r="r" b="b"/>
              <a:pathLst>
                <a:path w="8053012" h="549069">
                  <a:moveTo>
                    <a:pt x="0" y="0"/>
                  </a:moveTo>
                  <a:lnTo>
                    <a:pt x="8053012" y="0"/>
                  </a:lnTo>
                  <a:lnTo>
                    <a:pt x="8053012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5780" b="-235780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9525"/>
              <a:ext cx="8053006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05"/>
                </a:lnSpc>
              </a:pPr>
              <a:r>
                <a:rPr lang="en-US" sz="1921">
                  <a:solidFill>
                    <a:srgbClr val="0B1720"/>
                  </a:solidFill>
                  <a:latin typeface="Noto Sans"/>
                  <a:ea typeface="Noto Sans"/>
                  <a:cs typeface="Noto Sans"/>
                  <a:sym typeface="Noto Sans"/>
                </a:rPr>
                <a:t>주문번호 검색, 상태 필터, 기간별 조회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363142" y="8295132"/>
            <a:ext cx="15461628" cy="101422"/>
            <a:chOff x="0" y="0"/>
            <a:chExt cx="20615504" cy="13523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0615529" cy="135255"/>
            </a:xfrm>
            <a:custGeom>
              <a:avLst/>
              <a:gdLst/>
              <a:ahLst/>
              <a:cxnLst/>
              <a:rect l="l" t="t" r="r" b="b"/>
              <a:pathLst>
                <a:path w="20615529" h="135255">
                  <a:moveTo>
                    <a:pt x="0" y="0"/>
                  </a:moveTo>
                  <a:lnTo>
                    <a:pt x="20615529" y="0"/>
                  </a:lnTo>
                  <a:lnTo>
                    <a:pt x="20615529" y="135255"/>
                  </a:lnTo>
                  <a:lnTo>
                    <a:pt x="0" y="135255"/>
                  </a:lnTo>
                  <a:close/>
                </a:path>
              </a:pathLst>
            </a:custGeom>
            <a:solidFill>
              <a:srgbClr val="D5E0EA"/>
            </a:solidFill>
          </p:spPr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951872" y="796147"/>
            <a:ext cx="7481068" cy="8716470"/>
            <a:chOff x="0" y="0"/>
            <a:chExt cx="9974758" cy="11621960"/>
          </a:xfrm>
        </p:grpSpPr>
        <p:sp>
          <p:nvSpPr>
            <p:cNvPr id="3" name="Freeform 3" descr="/mnt/data/a_clean_modern_workshop_lab_scene_shallow_depth.png"/>
            <p:cNvSpPr/>
            <p:nvPr/>
          </p:nvSpPr>
          <p:spPr>
            <a:xfrm>
              <a:off x="0" y="0"/>
              <a:ext cx="9974707" cy="11621897"/>
            </a:xfrm>
            <a:custGeom>
              <a:avLst/>
              <a:gdLst/>
              <a:ahLst/>
              <a:cxnLst/>
              <a:rect l="l" t="t" r="r" b="b"/>
              <a:pathLst>
                <a:path w="9974707" h="11621897">
                  <a:moveTo>
                    <a:pt x="0" y="0"/>
                  </a:moveTo>
                  <a:lnTo>
                    <a:pt x="9974707" y="0"/>
                  </a:lnTo>
                  <a:lnTo>
                    <a:pt x="9974707" y="11621897"/>
                  </a:lnTo>
                  <a:lnTo>
                    <a:pt x="0" y="116218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3512" r="-5351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9535" y="-9535"/>
            <a:ext cx="18320909" cy="183785"/>
            <a:chOff x="0" y="0"/>
            <a:chExt cx="24427878" cy="24504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27814" cy="245110"/>
            </a:xfrm>
            <a:custGeom>
              <a:avLst/>
              <a:gdLst/>
              <a:ahLst/>
              <a:cxnLst/>
              <a:rect l="l" t="t" r="r" b="b"/>
              <a:pathLst>
                <a:path w="24427814" h="245110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16B3C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098137" y="1166774"/>
            <a:ext cx="2745343" cy="617706"/>
            <a:chOff x="0" y="0"/>
            <a:chExt cx="3660458" cy="82360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60460" cy="823603"/>
            </a:xfrm>
            <a:custGeom>
              <a:avLst/>
              <a:gdLst/>
              <a:ahLst/>
              <a:cxnLst/>
              <a:rect l="l" t="t" r="r" b="b"/>
              <a:pathLst>
                <a:path w="3660460" h="823603">
                  <a:moveTo>
                    <a:pt x="0" y="0"/>
                  </a:moveTo>
                  <a:lnTo>
                    <a:pt x="3660460" y="0"/>
                  </a:lnTo>
                  <a:lnTo>
                    <a:pt x="3660460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6599" b="-36600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3660458" cy="8236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3"/>
                </a:lnSpc>
              </a:pPr>
              <a:r>
                <a:rPr lang="en-US" sz="4203" b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정리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98137" y="2264912"/>
            <a:ext cx="8236039" cy="1853108"/>
            <a:chOff x="0" y="0"/>
            <a:chExt cx="10981385" cy="247081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981379" cy="2470810"/>
            </a:xfrm>
            <a:custGeom>
              <a:avLst/>
              <a:gdLst/>
              <a:ahLst/>
              <a:cxnLst/>
              <a:rect l="l" t="t" r="r" b="b"/>
              <a:pathLst>
                <a:path w="10981379" h="2470810">
                  <a:moveTo>
                    <a:pt x="0" y="0"/>
                  </a:moveTo>
                  <a:lnTo>
                    <a:pt x="10981379" y="0"/>
                  </a:lnTo>
                  <a:lnTo>
                    <a:pt x="10981379" y="2470810"/>
                  </a:lnTo>
                  <a:lnTo>
                    <a:pt x="0" y="24708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6600" b="-36600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10981385" cy="24708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4"/>
                </a:lnSpc>
              </a:pPr>
              <a:r>
                <a:rPr lang="en-US" sz="4503" b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아크릴 판 주문제작 흐름을</a:t>
              </a:r>
            </a:p>
            <a:p>
              <a:pPr algn="l">
                <a:lnSpc>
                  <a:spcPts val="5404"/>
                </a:lnSpc>
              </a:pPr>
              <a:r>
                <a:rPr lang="en-US" sz="4503" b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견적 → 장바구니 → 주문 → 관리자 관리까지 구현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59145" y="4824184"/>
            <a:ext cx="3103769" cy="454504"/>
            <a:chOff x="0" y="0"/>
            <a:chExt cx="4138358" cy="60600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138295" cy="606044"/>
            </a:xfrm>
            <a:custGeom>
              <a:avLst/>
              <a:gdLst/>
              <a:ahLst/>
              <a:cxnLst/>
              <a:rect l="l" t="t" r="r" b="b"/>
              <a:pathLst>
                <a:path w="4138295" h="606044">
                  <a:moveTo>
                    <a:pt x="0" y="0"/>
                  </a:moveTo>
                  <a:lnTo>
                    <a:pt x="4138295" y="0"/>
                  </a:lnTo>
                  <a:lnTo>
                    <a:pt x="4138295" y="606044"/>
                  </a:lnTo>
                  <a:lnTo>
                    <a:pt x="0" y="606044"/>
                  </a:lnTo>
                  <a:close/>
                </a:path>
              </a:pathLst>
            </a:custGeom>
            <a:solidFill>
              <a:srgbClr val="FFFFFF">
                <a:alpha val="88235"/>
              </a:srgbClr>
            </a:solidFill>
            <a:ln w="15252" cap="sq">
              <a:solidFill>
                <a:srgbClr val="16B3C7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4138358" cy="6060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11"/>
                </a:lnSpc>
              </a:pPr>
              <a:r>
                <a:rPr lang="en-US" sz="1426" b="1">
                  <a:solidFill>
                    <a:srgbClr val="16B3C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옵션 기반 견적 계산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659459" y="4824184"/>
            <a:ext cx="3103769" cy="454504"/>
            <a:chOff x="0" y="0"/>
            <a:chExt cx="4138358" cy="60600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138295" cy="606044"/>
            </a:xfrm>
            <a:custGeom>
              <a:avLst/>
              <a:gdLst/>
              <a:ahLst/>
              <a:cxnLst/>
              <a:rect l="l" t="t" r="r" b="b"/>
              <a:pathLst>
                <a:path w="4138295" h="606044">
                  <a:moveTo>
                    <a:pt x="0" y="0"/>
                  </a:moveTo>
                  <a:lnTo>
                    <a:pt x="4138295" y="0"/>
                  </a:lnTo>
                  <a:lnTo>
                    <a:pt x="4138295" y="606044"/>
                  </a:lnTo>
                  <a:lnTo>
                    <a:pt x="0" y="606044"/>
                  </a:lnTo>
                  <a:close/>
                </a:path>
              </a:pathLst>
            </a:custGeom>
            <a:solidFill>
              <a:srgbClr val="FFFFFF">
                <a:alpha val="88235"/>
              </a:srgbClr>
            </a:solidFill>
            <a:ln w="15252" cap="sq">
              <a:solidFill>
                <a:srgbClr val="4CA66A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4138358" cy="6060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11"/>
                </a:lnSpc>
              </a:pPr>
              <a:r>
                <a:rPr lang="en-US" sz="1426" b="1">
                  <a:solidFill>
                    <a:srgbClr val="4CA66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회원별 장바구니 구조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59145" y="5579154"/>
            <a:ext cx="3103769" cy="454504"/>
            <a:chOff x="0" y="0"/>
            <a:chExt cx="4138358" cy="60600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138295" cy="606044"/>
            </a:xfrm>
            <a:custGeom>
              <a:avLst/>
              <a:gdLst/>
              <a:ahLst/>
              <a:cxnLst/>
              <a:rect l="l" t="t" r="r" b="b"/>
              <a:pathLst>
                <a:path w="4138295" h="606044">
                  <a:moveTo>
                    <a:pt x="0" y="0"/>
                  </a:moveTo>
                  <a:lnTo>
                    <a:pt x="4138295" y="0"/>
                  </a:lnTo>
                  <a:lnTo>
                    <a:pt x="4138295" y="606044"/>
                  </a:lnTo>
                  <a:lnTo>
                    <a:pt x="0" y="606044"/>
                  </a:lnTo>
                  <a:close/>
                </a:path>
              </a:pathLst>
            </a:custGeom>
            <a:solidFill>
              <a:srgbClr val="FFFFFF">
                <a:alpha val="88235"/>
              </a:srgbClr>
            </a:solidFill>
            <a:ln w="15252" cap="sq">
              <a:solidFill>
                <a:srgbClr val="F3B03E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4138358" cy="6060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11"/>
                </a:lnSpc>
              </a:pPr>
              <a:r>
                <a:rPr lang="en-US" sz="1426" b="1">
                  <a:solidFill>
                    <a:srgbClr val="F3B03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주문 상태·재고 관리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659459" y="5579154"/>
            <a:ext cx="3103769" cy="454504"/>
            <a:chOff x="0" y="0"/>
            <a:chExt cx="4138358" cy="60600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138295" cy="606044"/>
            </a:xfrm>
            <a:custGeom>
              <a:avLst/>
              <a:gdLst/>
              <a:ahLst/>
              <a:cxnLst/>
              <a:rect l="l" t="t" r="r" b="b"/>
              <a:pathLst>
                <a:path w="4138295" h="606044">
                  <a:moveTo>
                    <a:pt x="0" y="0"/>
                  </a:moveTo>
                  <a:lnTo>
                    <a:pt x="4138295" y="0"/>
                  </a:lnTo>
                  <a:lnTo>
                    <a:pt x="4138295" y="606044"/>
                  </a:lnTo>
                  <a:lnTo>
                    <a:pt x="0" y="606044"/>
                  </a:lnTo>
                  <a:close/>
                </a:path>
              </a:pathLst>
            </a:custGeom>
            <a:solidFill>
              <a:srgbClr val="FFFFFF">
                <a:alpha val="88235"/>
              </a:srgbClr>
            </a:solidFill>
            <a:ln w="15252" cap="sq">
              <a:solidFill>
                <a:srgbClr val="F26C63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4138358" cy="6060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11"/>
                </a:lnSpc>
              </a:pPr>
              <a:r>
                <a:rPr lang="en-US" sz="1426" b="1">
                  <a:solidFill>
                    <a:srgbClr val="F26C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산출물 기반 문서화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166774" y="8716470"/>
            <a:ext cx="4804353" cy="754971"/>
            <a:chOff x="0" y="0"/>
            <a:chExt cx="6405804" cy="100662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405805" cy="1006626"/>
            </a:xfrm>
            <a:custGeom>
              <a:avLst/>
              <a:gdLst/>
              <a:ahLst/>
              <a:cxnLst/>
              <a:rect l="l" t="t" r="r" b="b"/>
              <a:pathLst>
                <a:path w="6405805" h="1006626">
                  <a:moveTo>
                    <a:pt x="0" y="0"/>
                  </a:moveTo>
                  <a:lnTo>
                    <a:pt x="6405805" y="0"/>
                  </a:lnTo>
                  <a:lnTo>
                    <a:pt x="6405805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3995" b="-73995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6405804" cy="10066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3"/>
                </a:lnSpc>
              </a:pPr>
              <a:r>
                <a:rPr lang="en-US" sz="4203" b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감사합니다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069264" y="8716470"/>
            <a:ext cx="2333539" cy="754971"/>
            <a:chOff x="0" y="0"/>
            <a:chExt cx="3111386" cy="100662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111391" cy="1006626"/>
            </a:xfrm>
            <a:custGeom>
              <a:avLst/>
              <a:gdLst/>
              <a:ahLst/>
              <a:cxnLst/>
              <a:rect l="l" t="t" r="r" b="b"/>
              <a:pathLst>
                <a:path w="3111391" h="1006626">
                  <a:moveTo>
                    <a:pt x="0" y="0"/>
                  </a:moveTo>
                  <a:lnTo>
                    <a:pt x="3111391" y="0"/>
                  </a:lnTo>
                  <a:lnTo>
                    <a:pt x="3111391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226" b="-10226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3111386" cy="10066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5043"/>
                </a:lnSpc>
              </a:pPr>
              <a:r>
                <a:rPr lang="en-US" sz="4203" b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Q&amp;A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사용자 지정</PresentationFormat>
  <Paragraphs>0</Paragraphs>
  <Slides>13</Slides>
  <Notes>13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4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아크릴판_주문제작_쇼핑몰_발표자료.pptx</dc:title>
  <cp:revision>13</cp:revision>
  <dcterms:created xsi:type="dcterms:W3CDTF">2006-08-16T00:00:00Z</dcterms:created>
  <dcterms:modified xsi:type="dcterms:W3CDTF">2026-06-26T00:21:27Z</dcterms:modified>
  <dc:identifier>DAHNkdmtJDg</dc:identifier>
</cp:coreProperties>
</file>